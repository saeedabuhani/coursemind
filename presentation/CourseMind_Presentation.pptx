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"שלום, אני מציג/ה היום את CourseMind — עוזר לימודי חכם שעונה על שאלות ומסכם על בסיס חומר הקורס שאתם בעצמכם מעלים, לא ידע כללי מהאינטרנט."
על מה מצביע: שם המוצר והתת-כותרת במרכז.
מה להדגיש: המילים "חומר הקורס שלך".
משפט מעבר: "בואו נתחיל מהבעיה שהובילה אותנו לבנות את זה."
זמן משוער: 20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"סטודנטים היום מקבלים כמויות ענקיות של חומר — קבצי PDF ארוכים, לפעמים עשרות עמודים לכל הרצאה. מוצאים את עצמכם מחפשים מידע ספציפי, בונים סיכומים ידנית, ומתכוננים למבחנים תחת לחץ זמן."
על מה מצביע: על האייקונים, אחד אחרי השני.
מה להדגיש: "זו לא בעיה של חוסר ידע — זו בעיה של זמן."
משפט מעבר: "בדיוק בשביל זה בנינו את CourseMind."
זמן משוער: 30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"CourseMind עובד בתהליך פשוט: מעלים PDF, המערכת מעבדת אותו, ואז אפשר לשאול שאלות ולקבל תשובות מבוססות — או לבקש סיכום מלא של כל המסמך."
על מה מצביע: תרשים הזרימה, שלב אחרי שלב.
מה להדגיש: "כל תשובה מבוססת על המסמך שהסטודנט העלה בעצמו — לא על ידע כללי."
משפט מעבר: "עכשיו בואו נראה את זה בפועל."
זמן משוער: 30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"אני עובר עכשיו להדגמה חיה של המערכת, כדי שתראו את זה עובד בזמן אמת." (ואז ביצוע מלא של סקריפט ה-Live Demo)
על מה מצביע: המסך/המחשב עצמו.
מה להדגיש: כל שלב לפי סקריפט ההדגמה.
משפט מעבר (בסיום ההדגמה): "עכשיו שראיתם את זה עובד בפועל, בואו נבין למה זה בכלל נחשב AI Agent אמיתי — ולא רק תוכנה שקוראת ל-ChatGPT."
זמן משוער: 2:30 דקות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"השאלה החשובה בפרויקט הזה: האם זה AI Agent אמיתי, או סתם קריאה ל-ChatGPT? יש כאן Agent אמיתי שנבנה עם CrewAI — עם Role, Goal ו-Backstory מוגדרים, ועם Tool אמיתי בשם CourseMaterialSearchTool."
על מה מצביע: רשימת ה-✅, אחד אחרי השני.
מה להדגיש: "ה-Agent מחליט בעצמו מתי להפעיל את ה-Tool. בדקנו את זה ישירות בקוד, לא רק האמנו למה שה-LLM אמר שהוא עשה."
משפט מעבר: "בואו נראה איך זה בנוי מבחינה טכנית."
זמן משוער: 30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"התהליך מתחיל בהעלאת PDF: המערכת מחלצת טקסט, מפצלת אותו ל-Chunks, יוצרת Embeddings דרך OpenAI, ושומרת הכל ב-ChromaDB — מסד נתונים וקטורי. כשסטודנט שואל שאלה, ה-Agent מפעיל את ה-Tool, שמבצע חיפוש סמנטי ב-ChromaDB ומחזיר את המידע הרלוונטי."
על מה מצביע: שני התרשימים.
מה להדגיש: "זה pipeline אמיתי עם כמה שלבים — לא רק prompt אחד ל-LLM."
משפט מעבר: "אבל הדבר הכי חשוב הוא איך אנחנו מוודאים שהתשובה באמת אמינה."
זמן משוער: 35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"כשהמערכת מוצאת מידע רלוונטי, היא עונה על בסיסו ומראה בדיוק מאיפה — שם קובץ ומספר עמוד. אבל כשאין מידע רלוונטי — כמו שאלה על עוגת שוקולד במסמך JavaScript — המערכת לא ממציאה תשובה. היא אומרת בבירור שהמידע לא נמצא."
על מה מצביע: שני הכרטיסים, אחד אחרי השני.
מה להדגיש: "זה מפחית משמעותית את הסיכון ל-Hallucinations — לא מבטל אותו לגמרי."
משפט מעבר: "עד כה דיברנו על שאלות בודדות. מה קורה כשרוצים סיכום של כל המסמך?"
זמן משוער: 30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"שאלה ותשובה משתמשות ב-Top-K — רק החלקים הכי רלוונטיים. אבל סיכום מלא חייב לכסות את כל המסמך, אז בנינו תהליך נפרד שמשתמש בכל ה-Chunks, מחלק אותם ל-Batches, מסכם כל Batch בנפרד, ואז מאחד את הסיכומים לסיכום סופי אחד — טכניקה שנקראת Map/Reduce."
על מה מצביע: הטבלה, ואז המספרים הגדולים.
מה להדגיש: "בדקנו את זה על המסמך האמיתי — 21 עמודים, 27 Chunks, 3 Batches — והנושא Objects, שמופיע רק בעמודים 19 עד 21, הופיע בסיכום הסופי."
משפט מעבר: "אז איך אנחנו יודעים שכל זה באמת עובד? עברנו לבדיקה שיטתית."
זמן משוער: 25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"בנינו מערכת Evaluation אמיתית עם 13 מקרי בדיקה — לא רק בדיקות ידניות. המערכת עברה 13 מתוך 13 — מאה אחוז על סט הבדיקות שהגדרנו."
על מה מצביע: המספר הגדול, ואז המטריקות.
מה להדגיש: "זה לא אומר שהמערכת 100% מדויקת בכל מצב אפשרי — זה אומר שהיא עברה בהצלחה את כל התרחישים שהגדרנו: אחזור מידע, Grounding, בידוד מסמכים וכיסוי סיכום."
משפט מעבר: "עכשיו, מעבר לטכנולוגיה — בואו נדבר רגע על הצד העסקי."
זמן משוער: 25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"קהל היעד שלנו הוא סטודנטים באוניברסיטאות ובמכללות, עם פוטנציאל עתידי גם למוסדות אקדמיים. יש כלים דומים כמו ChatGPT או כלי Chat-with-PDF כלליים, אבל CourseMind בנוי סביב workflow אקדמי ממוקד. הצענו מודל תמחור של שלוש רמות."
על מה מצביע: כרטיסי התמחור.
מה להדגיש: "אלו מחירים מוצעים בלבד. אין לנו כרגע לקוחות משלמים, זה MVP."
משפט מעבר: "לסיום, בואו נדבר על לאן זה יכול להתפתח."
זמן משוער: 25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מה אני אומר: "בעתיד היינו רוצים להוסיף יצירת חידונים, תמיכה בתמונות ו-OCR לסריקות, ואולי גם עבודה עם כמה Agents במקביל. אבל מה שיש לנו היום כבר עובד מקצה לקצה. CourseMind הופך חומרי קורס ממסמכים פסיביים לעוזר לימודי חכם, ממוקד, ומבוסס מקורות אמיתיים. תודה רבה."
על מה מצביע: רשימת Future Work, ואז משפט הסיכום.
מה להדגיש: המשפט האחרון — זה ה-takeaway שרוצים שישאר.
משפט מעבר: (סוף) "אשמח לענות על שאלות."
זמן משוער: 20 שניות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5-1.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5408676" y="1234440"/>
            <a:ext cx="1371600" cy="1371600"/>
          </a:xfrm>
          <a:prstGeom prst="ellipse">
            <a:avLst/>
          </a:prstGeom>
          <a:solidFill>
            <a:srgbClr val="D9A441"/>
          </a:solidFill>
          <a:ln/>
          <a:effectLst>
            <a:outerShdw sx="100000" sy="100000" kx="0" ky="0" algn="bl" rotWithShape="0" blurRad="76200" dist="25400" dir="5400000">
              <a:srgbClr val="1B2A4A">
                <a:alpha val="25000"/>
              </a:srgbClr>
            </a:outerShdw>
          </a:effectLst>
        </p:spPr>
      </p:sp>
      <p:pic>
        <p:nvPicPr>
          <p:cNvPr id="3" name="Image 0" descr="cap icon">    </p:cNvPr>
          <p:cNvPicPr>
            <a:picLocks noChangeAspect="1"/>
          </p:cNvPicPr>
          <p:nvPr/>
        </p:nvPicPr>
        <p:blipFill>
          <a:blip r:embed="rId1"/>
          <a:stretch>
            <a:fillRect/>
          </a:stretch>
        </p:blipFill>
        <p:spPr>
          <a:xfrm>
            <a:off x="5600700" y="1426464"/>
            <a:ext cx="987552" cy="987552"/>
          </a:xfrm>
          <a:prstGeom prst="rect">
            <a:avLst/>
          </a:prstGeom>
        </p:spPr>
      </p:pic>
      <p:sp>
        <p:nvSpPr>
          <p:cNvPr id="4" name="Text 1"/>
          <p:cNvSpPr txBox="1"/>
          <p:nvPr/>
        </p:nvSpPr>
        <p:spPr>
          <a:xfrm>
            <a:off x="0" y="2788920"/>
            <a:ext cx="12188952"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CourseMind</a:t>
            </a:r>
            <a:endParaRPr lang="en-US" sz="6000" dirty="0"/>
          </a:p>
        </p:txBody>
      </p:sp>
      <p:sp>
        <p:nvSpPr>
          <p:cNvPr id="5" name="Text 2"/>
          <p:cNvSpPr txBox="1"/>
          <p:nvPr/>
        </p:nvSpPr>
        <p:spPr>
          <a:xfrm>
            <a:off x="1371600" y="3794760"/>
            <a:ext cx="9445752" cy="548640"/>
          </a:xfrm>
          <a:prstGeom prst="rect">
            <a:avLst/>
          </a:prstGeom>
          <a:noFill/>
          <a:ln/>
        </p:spPr>
        <p:txBody>
          <a:bodyPr wrap="square" lIns="0" tIns="0" rIns="0" bIns="0" rtlCol="0" anchor="ctr"/>
          <a:lstStyle/>
          <a:p>
            <a:pPr rtl="1" algn="ctr" indent="0" marL="0">
              <a:buNone/>
            </a:pPr>
            <a:r>
              <a:rPr lang="en-US" sz="2200" dirty="0">
                <a:solidFill>
                  <a:srgbClr val="F2DCA8"/>
                </a:solidFill>
                <a:latin typeface="Calibri" pitchFamily="34" charset="0"/>
                <a:ea typeface="Calibri" pitchFamily="34" charset="-122"/>
                <a:cs typeface="Calibri" pitchFamily="34" charset="-120"/>
              </a:rPr>
              <a:t>עוזר לימודי חכם המבוסס על חומר הקורס שלך</a:t>
            </a:r>
            <a:endParaRPr lang="en-US" sz="2200" dirty="0"/>
          </a:p>
        </p:txBody>
      </p:sp>
      <p:sp>
        <p:nvSpPr>
          <p:cNvPr id="6" name="Text 3"/>
          <p:cNvSpPr txBox="1"/>
          <p:nvPr/>
        </p:nvSpPr>
        <p:spPr>
          <a:xfrm>
            <a:off x="1645920" y="4572000"/>
            <a:ext cx="8897112" cy="822960"/>
          </a:xfrm>
          <a:prstGeom prst="rect">
            <a:avLst/>
          </a:prstGeom>
          <a:noFill/>
          <a:ln/>
        </p:spPr>
        <p:txBody>
          <a:bodyPr wrap="square" lIns="0" tIns="0" rIns="0" bIns="0" rtlCol="0" anchor="ctr"/>
          <a:lstStyle/>
          <a:p>
            <a:pPr rtl="1" algn="ctr" indent="0" marL="0">
              <a:buNone/>
            </a:pPr>
            <a:r>
              <a:rPr lang="en-US" sz="1400" dirty="0">
                <a:solidFill>
                  <a:srgbClr val="E9EEF6"/>
                </a:solidFill>
                <a:latin typeface="Calibri" pitchFamily="34" charset="0"/>
                <a:ea typeface="Calibri" pitchFamily="34" charset="-122"/>
                <a:cs typeface="Calibri" pitchFamily="34" charset="-120"/>
              </a:rPr>
              <a:t>CourseMind מאפשר לסטודנטים להפוך חומרי קורס ל-PDF לידע שניתן לשאול, להבין ולסכם — עם תשובות מבוססות מקורות.</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65760"/>
            <a:ext cx="11274552" cy="731520"/>
          </a:xfrm>
          <a:prstGeom prst="rect">
            <a:avLst/>
          </a:prstGeom>
          <a:noFill/>
          <a:ln/>
        </p:spPr>
        <p:txBody>
          <a:bodyPr wrap="square" lIns="0" tIns="0" rIns="0" bIns="0" rtlCol="0" anchor="ctr"/>
          <a:lstStyle/>
          <a:p>
            <a:pPr rtl="1" algn="r" indent="0" marL="0">
              <a:buNone/>
            </a:pPr>
            <a:r>
              <a:rPr lang="en-US" sz="3400" b="1" dirty="0">
                <a:solidFill>
                  <a:srgbClr val="1B2A4A"/>
                </a:solidFill>
                <a:latin typeface="Calibri" pitchFamily="34" charset="0"/>
                <a:ea typeface="Calibri" pitchFamily="34" charset="-122"/>
                <a:cs typeface="Calibri" pitchFamily="34" charset="-120"/>
              </a:rPr>
              <a:t>הבעיה</a:t>
            </a:r>
            <a:endParaRPr lang="en-US" sz="3400" dirty="0"/>
          </a:p>
        </p:txBody>
      </p:sp>
      <p:sp>
        <p:nvSpPr>
          <p:cNvPr id="3" name="Shape 1"/>
          <p:cNvSpPr/>
          <p:nvPr/>
        </p:nvSpPr>
        <p:spPr>
          <a:xfrm>
            <a:off x="1081735" y="2240280"/>
            <a:ext cx="1005840" cy="1005840"/>
          </a:xfrm>
          <a:prstGeom prst="ellipse">
            <a:avLst/>
          </a:prstGeom>
          <a:solidFill>
            <a:srgbClr val="1B2A4A"/>
          </a:solidFill>
          <a:ln/>
          <a:effectLst>
            <a:outerShdw sx="100000" sy="100000" kx="0" ky="0" algn="bl" rotWithShape="0" blurRad="76200" dist="25400" dir="5400000">
              <a:srgbClr val="1B2A4A">
                <a:alpha val="25000"/>
              </a:srgbClr>
            </a:outerShdw>
          </a:effectLst>
        </p:spPr>
      </p:sp>
      <p:pic>
        <p:nvPicPr>
          <p:cNvPr id="4" name="Image 0" descr="clock icon">    </p:cNvPr>
          <p:cNvPicPr>
            <a:picLocks noChangeAspect="1"/>
          </p:cNvPicPr>
          <p:nvPr/>
        </p:nvPicPr>
        <p:blipFill>
          <a:blip r:embed="rId1"/>
          <a:stretch>
            <a:fillRect/>
          </a:stretch>
        </p:blipFill>
        <p:spPr>
          <a:xfrm>
            <a:off x="1222553" y="2381098"/>
            <a:ext cx="724205" cy="724205"/>
          </a:xfrm>
          <a:prstGeom prst="rect">
            <a:avLst/>
          </a:prstGeom>
        </p:spPr>
      </p:pic>
      <p:sp>
        <p:nvSpPr>
          <p:cNvPr id="5" name="Text 2"/>
          <p:cNvSpPr txBox="1"/>
          <p:nvPr/>
        </p:nvSpPr>
        <p:spPr>
          <a:xfrm>
            <a:off x="594360" y="3383280"/>
            <a:ext cx="1980590" cy="914400"/>
          </a:xfrm>
          <a:prstGeom prst="rect">
            <a:avLst/>
          </a:prstGeom>
          <a:noFill/>
          <a:ln/>
        </p:spPr>
        <p:txBody>
          <a:bodyPr wrap="square" lIns="0" tIns="0" rIns="0" bIns="0" rtlCol="0" anchor="ctr"/>
          <a:lstStyle/>
          <a:p>
            <a:pPr rtl="1" algn="ctr" indent="0" marL="0">
              <a:buNone/>
            </a:pPr>
            <a:r>
              <a:rPr lang="en-US" sz="1350" b="1" dirty="0">
                <a:solidFill>
                  <a:srgbClr val="1B2A4A"/>
                </a:solidFill>
                <a:latin typeface="Calibri" pitchFamily="34" charset="0"/>
                <a:ea typeface="Calibri" pitchFamily="34" charset="-122"/>
                <a:cs typeface="Calibri" pitchFamily="34" charset="-120"/>
              </a:rPr>
              <a:t>הכנה למבחנים</a:t>
            </a:r>
            <a:endParaRPr lang="en-US" sz="1350" dirty="0"/>
          </a:p>
          <a:p>
            <a:pPr rtl="1" algn="ctr" indent="0" marL="0">
              <a:buNone/>
            </a:pPr>
            <a:r>
              <a:rPr lang="en-US" sz="1350" b="1" dirty="0">
                <a:solidFill>
                  <a:srgbClr val="1B2A4A"/>
                </a:solidFill>
                <a:latin typeface="Calibri" pitchFamily="34" charset="0"/>
                <a:ea typeface="Calibri" pitchFamily="34" charset="-122"/>
                <a:cs typeface="Calibri" pitchFamily="34" charset="-120"/>
              </a:rPr>
              <a:t>תחת לחץ</a:t>
            </a:r>
            <a:endParaRPr lang="en-US" sz="1350" dirty="0"/>
          </a:p>
        </p:txBody>
      </p:sp>
      <p:sp>
        <p:nvSpPr>
          <p:cNvPr id="6" name="Shape 3"/>
          <p:cNvSpPr/>
          <p:nvPr/>
        </p:nvSpPr>
        <p:spPr>
          <a:xfrm>
            <a:off x="3336646" y="2240280"/>
            <a:ext cx="1005840" cy="1005840"/>
          </a:xfrm>
          <a:prstGeom prst="ellipse">
            <a:avLst/>
          </a:prstGeom>
          <a:solidFill>
            <a:srgbClr val="1B2A4A"/>
          </a:solidFill>
          <a:ln/>
          <a:effectLst>
            <a:outerShdw sx="100000" sy="100000" kx="0" ky="0" algn="bl" rotWithShape="0" blurRad="76200" dist="25400" dir="5400000">
              <a:srgbClr val="1B2A4A">
                <a:alpha val="25000"/>
              </a:srgbClr>
            </a:outerShdw>
          </a:effectLst>
        </p:spPr>
      </p:sp>
      <p:pic>
        <p:nvPicPr>
          <p:cNvPr id="7" name="Image 1" descr="clipboard icon">    </p:cNvPr>
          <p:cNvPicPr>
            <a:picLocks noChangeAspect="1"/>
          </p:cNvPicPr>
          <p:nvPr/>
        </p:nvPicPr>
        <p:blipFill>
          <a:blip r:embed="rId2"/>
          <a:stretch>
            <a:fillRect/>
          </a:stretch>
        </p:blipFill>
        <p:spPr>
          <a:xfrm>
            <a:off x="3477463" y="2381098"/>
            <a:ext cx="724205" cy="724205"/>
          </a:xfrm>
          <a:prstGeom prst="rect">
            <a:avLst/>
          </a:prstGeom>
        </p:spPr>
      </p:pic>
      <p:sp>
        <p:nvSpPr>
          <p:cNvPr id="8" name="Text 4"/>
          <p:cNvSpPr txBox="1"/>
          <p:nvPr/>
        </p:nvSpPr>
        <p:spPr>
          <a:xfrm>
            <a:off x="2849270" y="3383280"/>
            <a:ext cx="1980590" cy="914400"/>
          </a:xfrm>
          <a:prstGeom prst="rect">
            <a:avLst/>
          </a:prstGeom>
          <a:noFill/>
          <a:ln/>
        </p:spPr>
        <p:txBody>
          <a:bodyPr wrap="square" lIns="0" tIns="0" rIns="0" bIns="0" rtlCol="0" anchor="ctr"/>
          <a:lstStyle/>
          <a:p>
            <a:pPr rtl="1" algn="ctr" indent="0" marL="0">
              <a:buNone/>
            </a:pPr>
            <a:r>
              <a:rPr lang="en-US" sz="1350" b="1" dirty="0">
                <a:solidFill>
                  <a:srgbClr val="1B2A4A"/>
                </a:solidFill>
                <a:latin typeface="Calibri" pitchFamily="34" charset="0"/>
                <a:ea typeface="Calibri" pitchFamily="34" charset="-122"/>
                <a:cs typeface="Calibri" pitchFamily="34" charset="-120"/>
              </a:rPr>
              <a:t>זמן רב על</a:t>
            </a:r>
            <a:endParaRPr lang="en-US" sz="1350" dirty="0"/>
          </a:p>
          <a:p>
            <a:pPr rtl="1" algn="ctr" indent="0" marL="0">
              <a:buNone/>
            </a:pPr>
            <a:r>
              <a:rPr lang="en-US" sz="1350" b="1" dirty="0">
                <a:solidFill>
                  <a:srgbClr val="1B2A4A"/>
                </a:solidFill>
                <a:latin typeface="Calibri" pitchFamily="34" charset="0"/>
                <a:ea typeface="Calibri" pitchFamily="34" charset="-122"/>
                <a:cs typeface="Calibri" pitchFamily="34" charset="-120"/>
              </a:rPr>
              <a:t>הכנת סיכומים</a:t>
            </a:r>
            <a:endParaRPr lang="en-US" sz="1350" dirty="0"/>
          </a:p>
        </p:txBody>
      </p:sp>
      <p:sp>
        <p:nvSpPr>
          <p:cNvPr id="9" name="Shape 5"/>
          <p:cNvSpPr/>
          <p:nvPr/>
        </p:nvSpPr>
        <p:spPr>
          <a:xfrm>
            <a:off x="5591556" y="2240280"/>
            <a:ext cx="1005840" cy="1005840"/>
          </a:xfrm>
          <a:prstGeom prst="ellipse">
            <a:avLst/>
          </a:prstGeom>
          <a:solidFill>
            <a:srgbClr val="1B2A4A"/>
          </a:solidFill>
          <a:ln/>
          <a:effectLst>
            <a:outerShdw sx="100000" sy="100000" kx="0" ky="0" algn="bl" rotWithShape="0" blurRad="76200" dist="25400" dir="5400000">
              <a:srgbClr val="1B2A4A">
                <a:alpha val="25000"/>
              </a:srgbClr>
            </a:outerShdw>
          </a:effectLst>
        </p:spPr>
      </p:sp>
      <p:pic>
        <p:nvPicPr>
          <p:cNvPr id="10" name="Image 2" descr="search icon">    </p:cNvPr>
          <p:cNvPicPr>
            <a:picLocks noChangeAspect="1"/>
          </p:cNvPicPr>
          <p:nvPr/>
        </p:nvPicPr>
        <p:blipFill>
          <a:blip r:embed="rId3"/>
          <a:stretch>
            <a:fillRect/>
          </a:stretch>
        </p:blipFill>
        <p:spPr>
          <a:xfrm>
            <a:off x="5732374" y="2381098"/>
            <a:ext cx="724205" cy="724205"/>
          </a:xfrm>
          <a:prstGeom prst="rect">
            <a:avLst/>
          </a:prstGeom>
        </p:spPr>
      </p:pic>
      <p:sp>
        <p:nvSpPr>
          <p:cNvPr id="11" name="Text 6"/>
          <p:cNvSpPr txBox="1"/>
          <p:nvPr/>
        </p:nvSpPr>
        <p:spPr>
          <a:xfrm>
            <a:off x="5104181" y="3383280"/>
            <a:ext cx="1980590" cy="914400"/>
          </a:xfrm>
          <a:prstGeom prst="rect">
            <a:avLst/>
          </a:prstGeom>
          <a:noFill/>
          <a:ln/>
        </p:spPr>
        <p:txBody>
          <a:bodyPr wrap="square" lIns="0" tIns="0" rIns="0" bIns="0" rtlCol="0" anchor="ctr"/>
          <a:lstStyle/>
          <a:p>
            <a:pPr rtl="1" algn="ctr" indent="0" marL="0">
              <a:buNone/>
            </a:pPr>
            <a:r>
              <a:rPr lang="en-US" sz="1350" b="1" dirty="0">
                <a:solidFill>
                  <a:srgbClr val="1B2A4A"/>
                </a:solidFill>
                <a:latin typeface="Calibri" pitchFamily="34" charset="0"/>
                <a:ea typeface="Calibri" pitchFamily="34" charset="-122"/>
                <a:cs typeface="Calibri" pitchFamily="34" charset="-120"/>
              </a:rPr>
              <a:t>קשה למצוא</a:t>
            </a:r>
            <a:endParaRPr lang="en-US" sz="1350" dirty="0"/>
          </a:p>
          <a:p>
            <a:pPr rtl="1" algn="ctr" indent="0" marL="0">
              <a:buNone/>
            </a:pPr>
            <a:r>
              <a:rPr lang="en-US" sz="1350" b="1" dirty="0">
                <a:solidFill>
                  <a:srgbClr val="1B2A4A"/>
                </a:solidFill>
                <a:latin typeface="Calibri" pitchFamily="34" charset="0"/>
                <a:ea typeface="Calibri" pitchFamily="34" charset="-122"/>
                <a:cs typeface="Calibri" pitchFamily="34" charset="-120"/>
              </a:rPr>
              <a:t>מידע במהירות</a:t>
            </a:r>
            <a:endParaRPr lang="en-US" sz="1350" dirty="0"/>
          </a:p>
        </p:txBody>
      </p:sp>
      <p:sp>
        <p:nvSpPr>
          <p:cNvPr id="12" name="Shape 7"/>
          <p:cNvSpPr/>
          <p:nvPr/>
        </p:nvSpPr>
        <p:spPr>
          <a:xfrm>
            <a:off x="7846466" y="2240280"/>
            <a:ext cx="1005840" cy="1005840"/>
          </a:xfrm>
          <a:prstGeom prst="ellipse">
            <a:avLst/>
          </a:prstGeom>
          <a:solidFill>
            <a:srgbClr val="1B2A4A"/>
          </a:solidFill>
          <a:ln/>
          <a:effectLst>
            <a:outerShdw sx="100000" sy="100000" kx="0" ky="0" algn="bl" rotWithShape="0" blurRad="76200" dist="25400" dir="5400000">
              <a:srgbClr val="1B2A4A">
                <a:alpha val="25000"/>
              </a:srgbClr>
            </a:outerShdw>
          </a:effectLst>
        </p:spPr>
      </p:sp>
      <p:pic>
        <p:nvPicPr>
          <p:cNvPr id="13" name="Image 3" descr="file icon">    </p:cNvPr>
          <p:cNvPicPr>
            <a:picLocks noChangeAspect="1"/>
          </p:cNvPicPr>
          <p:nvPr/>
        </p:nvPicPr>
        <p:blipFill>
          <a:blip r:embed="rId4"/>
          <a:stretch>
            <a:fillRect/>
          </a:stretch>
        </p:blipFill>
        <p:spPr>
          <a:xfrm>
            <a:off x="7987284" y="2381098"/>
            <a:ext cx="724205" cy="724205"/>
          </a:xfrm>
          <a:prstGeom prst="rect">
            <a:avLst/>
          </a:prstGeom>
        </p:spPr>
      </p:pic>
      <p:sp>
        <p:nvSpPr>
          <p:cNvPr id="14" name="Text 8"/>
          <p:cNvSpPr txBox="1"/>
          <p:nvPr/>
        </p:nvSpPr>
        <p:spPr>
          <a:xfrm>
            <a:off x="7359091" y="3383280"/>
            <a:ext cx="1980590" cy="914400"/>
          </a:xfrm>
          <a:prstGeom prst="rect">
            <a:avLst/>
          </a:prstGeom>
          <a:noFill/>
          <a:ln/>
        </p:spPr>
        <p:txBody>
          <a:bodyPr wrap="square" lIns="0" tIns="0" rIns="0" bIns="0" rtlCol="0" anchor="ctr"/>
          <a:lstStyle/>
          <a:p>
            <a:pPr rtl="1" algn="ctr" indent="0" marL="0">
              <a:buNone/>
            </a:pPr>
            <a:r>
              <a:rPr lang="en-US" sz="1350" b="1" dirty="0">
                <a:solidFill>
                  <a:srgbClr val="1B2A4A"/>
                </a:solidFill>
                <a:latin typeface="Calibri" pitchFamily="34" charset="0"/>
                <a:ea typeface="Calibri" pitchFamily="34" charset="-122"/>
                <a:cs typeface="Calibri" pitchFamily="34" charset="-120"/>
              </a:rPr>
              <a:t>קבצי PDF</a:t>
            </a:r>
            <a:endParaRPr lang="en-US" sz="1350" dirty="0"/>
          </a:p>
          <a:p>
            <a:pPr rtl="1" algn="ctr" indent="0" marL="0">
              <a:buNone/>
            </a:pPr>
            <a:r>
              <a:rPr lang="en-US" sz="1350" b="1" dirty="0">
                <a:solidFill>
                  <a:srgbClr val="1B2A4A"/>
                </a:solidFill>
                <a:latin typeface="Calibri" pitchFamily="34" charset="0"/>
                <a:ea typeface="Calibri" pitchFamily="34" charset="-122"/>
                <a:cs typeface="Calibri" pitchFamily="34" charset="-120"/>
              </a:rPr>
              <a:t>ארוכים</a:t>
            </a:r>
            <a:endParaRPr lang="en-US" sz="1350" dirty="0"/>
          </a:p>
        </p:txBody>
      </p:sp>
      <p:sp>
        <p:nvSpPr>
          <p:cNvPr id="15" name="Shape 9"/>
          <p:cNvSpPr/>
          <p:nvPr/>
        </p:nvSpPr>
        <p:spPr>
          <a:xfrm>
            <a:off x="10101377" y="2240280"/>
            <a:ext cx="1005840" cy="1005840"/>
          </a:xfrm>
          <a:prstGeom prst="ellipse">
            <a:avLst/>
          </a:prstGeom>
          <a:solidFill>
            <a:srgbClr val="1B2A4A"/>
          </a:solidFill>
          <a:ln/>
          <a:effectLst>
            <a:outerShdw sx="100000" sy="100000" kx="0" ky="0" algn="bl" rotWithShape="0" blurRad="76200" dist="25400" dir="5400000">
              <a:srgbClr val="1B2A4A">
                <a:alpha val="25000"/>
              </a:srgbClr>
            </a:outerShdw>
          </a:effectLst>
        </p:spPr>
      </p:sp>
      <p:pic>
        <p:nvPicPr>
          <p:cNvPr id="16" name="Image 4" descr="layers icon">    </p:cNvPr>
          <p:cNvPicPr>
            <a:picLocks noChangeAspect="1"/>
          </p:cNvPicPr>
          <p:nvPr/>
        </p:nvPicPr>
        <p:blipFill>
          <a:blip r:embed="rId5"/>
          <a:stretch>
            <a:fillRect/>
          </a:stretch>
        </p:blipFill>
        <p:spPr>
          <a:xfrm>
            <a:off x="10242194" y="2381098"/>
            <a:ext cx="724205" cy="724205"/>
          </a:xfrm>
          <a:prstGeom prst="rect">
            <a:avLst/>
          </a:prstGeom>
        </p:spPr>
      </p:pic>
      <p:sp>
        <p:nvSpPr>
          <p:cNvPr id="17" name="Text 10"/>
          <p:cNvSpPr txBox="1"/>
          <p:nvPr/>
        </p:nvSpPr>
        <p:spPr>
          <a:xfrm>
            <a:off x="9614002" y="3383280"/>
            <a:ext cx="1980590" cy="914400"/>
          </a:xfrm>
          <a:prstGeom prst="rect">
            <a:avLst/>
          </a:prstGeom>
          <a:noFill/>
          <a:ln/>
        </p:spPr>
        <p:txBody>
          <a:bodyPr wrap="square" lIns="0" tIns="0" rIns="0" bIns="0" rtlCol="0" anchor="ctr"/>
          <a:lstStyle/>
          <a:p>
            <a:pPr rtl="1" algn="ctr" indent="0" marL="0">
              <a:buNone/>
            </a:pPr>
            <a:r>
              <a:rPr lang="en-US" sz="1350" b="1" dirty="0">
                <a:solidFill>
                  <a:srgbClr val="1B2A4A"/>
                </a:solidFill>
                <a:latin typeface="Calibri" pitchFamily="34" charset="0"/>
                <a:ea typeface="Calibri" pitchFamily="34" charset="-122"/>
                <a:cs typeface="Calibri" pitchFamily="34" charset="-120"/>
              </a:rPr>
              <a:t>כמויות גדולות</a:t>
            </a:r>
            <a:endParaRPr lang="en-US" sz="1350" dirty="0"/>
          </a:p>
          <a:p>
            <a:pPr rtl="1" algn="ctr" indent="0" marL="0">
              <a:buNone/>
            </a:pPr>
            <a:r>
              <a:rPr lang="en-US" sz="1350" b="1" dirty="0">
                <a:solidFill>
                  <a:srgbClr val="1B2A4A"/>
                </a:solidFill>
                <a:latin typeface="Calibri" pitchFamily="34" charset="0"/>
                <a:ea typeface="Calibri" pitchFamily="34" charset="-122"/>
                <a:cs typeface="Calibri" pitchFamily="34" charset="-120"/>
              </a:rPr>
              <a:t>של חומר לימוד</a:t>
            </a:r>
            <a:endParaRPr lang="en-US" sz="1350" dirty="0"/>
          </a:p>
        </p:txBody>
      </p:sp>
      <p:sp>
        <p:nvSpPr>
          <p:cNvPr id="19" name="Text 11"/>
          <p:cNvSpPr txBox="1"/>
          <p:nvPr/>
        </p:nvSpPr>
        <p:spPr>
          <a:xfrm>
            <a:off x="457200" y="6510528"/>
            <a:ext cx="2743200" cy="274320"/>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ea typeface="Calibri" pitchFamily="34" charset="-122"/>
                <a:cs typeface="Calibri" pitchFamily="34" charset="-120"/>
              </a:rPr>
              <a:t>CourseMind</a:t>
            </a:r>
            <a:endParaRPr lang="en-US" sz="900" dirty="0"/>
          </a:p>
        </p:txBody>
      </p:sp>
      <p:sp>
        <p:nvSpPr>
          <p:cNvPr id="20" name="Text 12"/>
          <p:cNvSpPr txBox="1"/>
          <p:nvPr/>
        </p:nvSpPr>
        <p:spPr>
          <a:xfrm>
            <a:off x="8988552" y="6510528"/>
            <a:ext cx="2743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65760"/>
            <a:ext cx="11274552" cy="731520"/>
          </a:xfrm>
          <a:prstGeom prst="rect">
            <a:avLst/>
          </a:prstGeom>
          <a:noFill/>
          <a:ln/>
        </p:spPr>
        <p:txBody>
          <a:bodyPr wrap="square" lIns="0" tIns="0" rIns="0" bIns="0" rtlCol="0" anchor="ctr"/>
          <a:lstStyle/>
          <a:p>
            <a:pPr rtl="1" algn="r" indent="0" marL="0">
              <a:buNone/>
            </a:pPr>
            <a:r>
              <a:rPr lang="en-US" sz="3400" b="1" dirty="0">
                <a:solidFill>
                  <a:srgbClr val="1B2A4A"/>
                </a:solidFill>
                <a:latin typeface="Calibri" pitchFamily="34" charset="0"/>
                <a:ea typeface="Calibri" pitchFamily="34" charset="-122"/>
                <a:cs typeface="Calibri" pitchFamily="34" charset="-120"/>
              </a:rPr>
              <a:t>הפתרון</a:t>
            </a:r>
            <a:endParaRPr lang="en-US" sz="3400" dirty="0"/>
          </a:p>
        </p:txBody>
      </p:sp>
      <p:sp>
        <p:nvSpPr>
          <p:cNvPr id="3" name="Text 1"/>
          <p:cNvSpPr txBox="1"/>
          <p:nvPr/>
        </p:nvSpPr>
        <p:spPr>
          <a:xfrm>
            <a:off x="457200" y="960120"/>
            <a:ext cx="11274552" cy="365760"/>
          </a:xfrm>
          <a:prstGeom prst="rect">
            <a:avLst/>
          </a:prstGeom>
          <a:noFill/>
          <a:ln/>
        </p:spPr>
        <p:txBody>
          <a:bodyPr wrap="square" lIns="0" tIns="0" rIns="0" bIns="0" rtlCol="0" anchor="ctr"/>
          <a:lstStyle/>
          <a:p>
            <a:pPr algn="r" indent="0" marL="0">
              <a:buNone/>
            </a:pPr>
            <a:r>
              <a:rPr lang="en-US" sz="1600" b="1" dirty="0">
                <a:solidFill>
                  <a:srgbClr val="D9A441"/>
                </a:solidFill>
                <a:latin typeface="Calibri" pitchFamily="34" charset="0"/>
                <a:ea typeface="Calibri" pitchFamily="34" charset="-122"/>
                <a:cs typeface="Calibri" pitchFamily="34" charset="-120"/>
              </a:rPr>
              <a:t>CourseMind</a:t>
            </a:r>
            <a:endParaRPr lang="en-US" sz="1600" dirty="0"/>
          </a:p>
        </p:txBody>
      </p:sp>
      <p:sp>
        <p:nvSpPr>
          <p:cNvPr id="4" name="Shape 2"/>
          <p:cNvSpPr/>
          <p:nvPr/>
        </p:nvSpPr>
        <p:spPr>
          <a:xfrm>
            <a:off x="2528316" y="1600200"/>
            <a:ext cx="4206240" cy="566928"/>
          </a:xfrm>
          <a:prstGeom prst="roundRect">
            <a:avLst>
              <a:gd name="adj" fmla="val 9677"/>
            </a:avLst>
          </a:prstGeom>
          <a:solidFill>
            <a:srgbClr val="1B2A4A"/>
          </a:solidFill>
          <a:ln/>
        </p:spPr>
      </p:sp>
      <p:sp>
        <p:nvSpPr>
          <p:cNvPr id="5" name="Text 3"/>
          <p:cNvSpPr txBox="1"/>
          <p:nvPr/>
        </p:nvSpPr>
        <p:spPr>
          <a:xfrm>
            <a:off x="2528316" y="1600200"/>
            <a:ext cx="42062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Upload PDF</a:t>
            </a:r>
            <a:endParaRPr lang="en-US" sz="1250" dirty="0"/>
          </a:p>
        </p:txBody>
      </p:sp>
      <p:sp>
        <p:nvSpPr>
          <p:cNvPr id="6" name="Text 4"/>
          <p:cNvSpPr txBox="1"/>
          <p:nvPr/>
        </p:nvSpPr>
        <p:spPr>
          <a:xfrm>
            <a:off x="2528316" y="2139696"/>
            <a:ext cx="4206240" cy="310896"/>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528316" y="2423160"/>
            <a:ext cx="4206240" cy="566928"/>
          </a:xfrm>
          <a:prstGeom prst="roundRect">
            <a:avLst>
              <a:gd name="adj" fmla="val 9677"/>
            </a:avLst>
          </a:prstGeom>
          <a:solidFill>
            <a:srgbClr val="1B2A4A"/>
          </a:solidFill>
          <a:ln/>
        </p:spPr>
      </p:sp>
      <p:sp>
        <p:nvSpPr>
          <p:cNvPr id="8" name="Text 6"/>
          <p:cNvSpPr txBox="1"/>
          <p:nvPr/>
        </p:nvSpPr>
        <p:spPr>
          <a:xfrm>
            <a:off x="2528316" y="2423160"/>
            <a:ext cx="42062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Process</a:t>
            </a:r>
            <a:endParaRPr lang="en-US" sz="1250" dirty="0"/>
          </a:p>
        </p:txBody>
      </p:sp>
      <p:sp>
        <p:nvSpPr>
          <p:cNvPr id="9" name="Text 7"/>
          <p:cNvSpPr txBox="1"/>
          <p:nvPr/>
        </p:nvSpPr>
        <p:spPr>
          <a:xfrm>
            <a:off x="2528316" y="2962656"/>
            <a:ext cx="4206240" cy="310896"/>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528316" y="3246120"/>
            <a:ext cx="4206240" cy="566928"/>
          </a:xfrm>
          <a:prstGeom prst="roundRect">
            <a:avLst>
              <a:gd name="adj" fmla="val 9677"/>
            </a:avLst>
          </a:prstGeom>
          <a:solidFill>
            <a:srgbClr val="1B2A4A"/>
          </a:solidFill>
          <a:ln/>
        </p:spPr>
      </p:sp>
      <p:sp>
        <p:nvSpPr>
          <p:cNvPr id="11" name="Text 9"/>
          <p:cNvSpPr txBox="1"/>
          <p:nvPr/>
        </p:nvSpPr>
        <p:spPr>
          <a:xfrm>
            <a:off x="2528316" y="3246120"/>
            <a:ext cx="42062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Ask Questions</a:t>
            </a:r>
            <a:endParaRPr lang="en-US" sz="1250" dirty="0"/>
          </a:p>
        </p:txBody>
      </p:sp>
      <p:sp>
        <p:nvSpPr>
          <p:cNvPr id="12" name="Text 10"/>
          <p:cNvSpPr txBox="1"/>
          <p:nvPr/>
        </p:nvSpPr>
        <p:spPr>
          <a:xfrm>
            <a:off x="2528316" y="3785616"/>
            <a:ext cx="4206240" cy="310896"/>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2528316" y="4069080"/>
            <a:ext cx="4206240" cy="566928"/>
          </a:xfrm>
          <a:prstGeom prst="roundRect">
            <a:avLst>
              <a:gd name="adj" fmla="val 9677"/>
            </a:avLst>
          </a:prstGeom>
          <a:solidFill>
            <a:srgbClr val="1B2A4A"/>
          </a:solidFill>
          <a:ln/>
        </p:spPr>
      </p:sp>
      <p:sp>
        <p:nvSpPr>
          <p:cNvPr id="14" name="Text 12"/>
          <p:cNvSpPr txBox="1"/>
          <p:nvPr/>
        </p:nvSpPr>
        <p:spPr>
          <a:xfrm>
            <a:off x="2528316" y="4069080"/>
            <a:ext cx="42062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Grounded Answer</a:t>
            </a:r>
            <a:endParaRPr lang="en-US" sz="1250" dirty="0"/>
          </a:p>
        </p:txBody>
      </p:sp>
      <p:sp>
        <p:nvSpPr>
          <p:cNvPr id="15" name="Text 13"/>
          <p:cNvSpPr txBox="1"/>
          <p:nvPr/>
        </p:nvSpPr>
        <p:spPr>
          <a:xfrm>
            <a:off x="2528316" y="4608576"/>
            <a:ext cx="4206240" cy="310896"/>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2528316" y="4892040"/>
            <a:ext cx="4206240" cy="566928"/>
          </a:xfrm>
          <a:prstGeom prst="roundRect">
            <a:avLst>
              <a:gd name="adj" fmla="val 9677"/>
            </a:avLst>
          </a:prstGeom>
          <a:solidFill>
            <a:srgbClr val="D9A441"/>
          </a:solidFill>
          <a:ln/>
        </p:spPr>
      </p:sp>
      <p:sp>
        <p:nvSpPr>
          <p:cNvPr id="17" name="Text 15"/>
          <p:cNvSpPr txBox="1"/>
          <p:nvPr/>
        </p:nvSpPr>
        <p:spPr>
          <a:xfrm>
            <a:off x="2528316" y="4892040"/>
            <a:ext cx="4206240" cy="566928"/>
          </a:xfrm>
          <a:prstGeom prst="rect">
            <a:avLst/>
          </a:prstGeom>
          <a:noFill/>
          <a:ln/>
        </p:spPr>
        <p:txBody>
          <a:bodyPr wrap="square" lIns="0" tIns="0" rIns="0" bIns="0"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Sources</a:t>
            </a:r>
            <a:endParaRPr lang="en-US" sz="1250" dirty="0"/>
          </a:p>
        </p:txBody>
      </p:sp>
      <p:sp>
        <p:nvSpPr>
          <p:cNvPr id="18" name="Shape 16"/>
          <p:cNvSpPr/>
          <p:nvPr/>
        </p:nvSpPr>
        <p:spPr>
          <a:xfrm>
            <a:off x="7557516" y="2377440"/>
            <a:ext cx="3108960" cy="1737360"/>
          </a:xfrm>
          <a:prstGeom prst="roundRect">
            <a:avLst>
              <a:gd name="adj" fmla="val 4737"/>
            </a:avLst>
          </a:prstGeom>
          <a:solidFill>
            <a:srgbClr val="E9EEF6"/>
          </a:solidFill>
          <a:ln/>
          <a:effectLst>
            <a:outerShdw sx="100000" sy="100000" kx="0" ky="0" algn="bl" rotWithShape="0" blurRad="101600" dist="25400" dir="5400000">
              <a:srgbClr val="1B2A4A">
                <a:alpha val="12000"/>
              </a:srgbClr>
            </a:outerShdw>
          </a:effectLst>
        </p:spPr>
      </p:sp>
      <p:pic>
        <p:nvPicPr>
          <p:cNvPr id="19" name="Image 0" descr="book icon">    </p:cNvPr>
          <p:cNvPicPr>
            <a:picLocks noChangeAspect="1"/>
          </p:cNvPicPr>
          <p:nvPr/>
        </p:nvPicPr>
        <p:blipFill>
          <a:blip r:embed="rId1"/>
          <a:stretch>
            <a:fillRect/>
          </a:stretch>
        </p:blipFill>
        <p:spPr>
          <a:xfrm>
            <a:off x="8791956" y="2560320"/>
            <a:ext cx="640080" cy="640080"/>
          </a:xfrm>
          <a:prstGeom prst="rect">
            <a:avLst/>
          </a:prstGeom>
        </p:spPr>
      </p:pic>
      <p:sp>
        <p:nvSpPr>
          <p:cNvPr id="20" name="Text 17"/>
          <p:cNvSpPr txBox="1"/>
          <p:nvPr/>
        </p:nvSpPr>
        <p:spPr>
          <a:xfrm>
            <a:off x="7694676" y="3246120"/>
            <a:ext cx="2834640" cy="36576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Generate Full Summary</a:t>
            </a:r>
            <a:endParaRPr lang="en-US" sz="1300" dirty="0"/>
          </a:p>
        </p:txBody>
      </p:sp>
      <p:sp>
        <p:nvSpPr>
          <p:cNvPr id="21" name="Text 18"/>
          <p:cNvSpPr txBox="1"/>
          <p:nvPr/>
        </p:nvSpPr>
        <p:spPr>
          <a:xfrm>
            <a:off x="7694676" y="3611880"/>
            <a:ext cx="2834640" cy="411480"/>
          </a:xfrm>
          <a:prstGeom prst="rect">
            <a:avLst/>
          </a:prstGeom>
          <a:noFill/>
          <a:ln/>
        </p:spPr>
        <p:txBody>
          <a:bodyPr wrap="square" lIns="0" tIns="0" rIns="0" bIns="0" rtlCol="0" anchor="ctr"/>
          <a:lstStyle/>
          <a:p>
            <a:pPr rtl="1" algn="ctr" indent="0" marL="0">
              <a:buNone/>
            </a:pPr>
            <a:r>
              <a:rPr lang="en-US" sz="1150" dirty="0">
                <a:solidFill>
                  <a:srgbClr val="5A6472"/>
                </a:solidFill>
                <a:latin typeface="Calibri" pitchFamily="34" charset="0"/>
                <a:ea typeface="Calibri" pitchFamily="34" charset="-122"/>
                <a:cs typeface="Calibri" pitchFamily="34" charset="-120"/>
              </a:rPr>
              <a:t>או בקשו סיכום מלא של כל המסמך</a:t>
            </a:r>
            <a:endParaRPr lang="en-US" sz="1150" dirty="0"/>
          </a:p>
        </p:txBody>
      </p:sp>
      <p:sp>
        <p:nvSpPr>
          <p:cNvPr id="22" name="Text 19"/>
          <p:cNvSpPr txBox="1"/>
          <p:nvPr/>
        </p:nvSpPr>
        <p:spPr>
          <a:xfrm>
            <a:off x="457200" y="5623560"/>
            <a:ext cx="11274552" cy="548640"/>
          </a:xfrm>
          <a:prstGeom prst="rect">
            <a:avLst/>
          </a:prstGeom>
          <a:noFill/>
          <a:ln/>
        </p:spPr>
        <p:txBody>
          <a:bodyPr wrap="square" lIns="0" tIns="0" rIns="0" bIns="0" rtlCol="0" anchor="ctr"/>
          <a:lstStyle/>
          <a:p>
            <a:pPr rtl="1" algn="r" indent="0" marL="0">
              <a:buNone/>
            </a:pPr>
            <a:r>
              <a:rPr lang="en-US" sz="1350" dirty="0">
                <a:solidFill>
                  <a:srgbClr val="5A6472"/>
                </a:solidFill>
                <a:latin typeface="Calibri" pitchFamily="34" charset="0"/>
                <a:ea typeface="Calibri" pitchFamily="34" charset="-122"/>
                <a:cs typeface="Calibri" pitchFamily="34" charset="-120"/>
              </a:rPr>
              <a:t>הסטודנט מעלה את חומר הקורס שלו, והמערכת עונה על שאלות ומייצרת סיכום מלא — הכל מבוסס על התוכן שהוא בעצמו העלה.</a:t>
            </a:r>
            <a:endParaRPr lang="en-US" sz="1350" dirty="0"/>
          </a:p>
        </p:txBody>
      </p:sp>
      <p:sp>
        <p:nvSpPr>
          <p:cNvPr id="24" name="Text 20"/>
          <p:cNvSpPr txBox="1"/>
          <p:nvPr/>
        </p:nvSpPr>
        <p:spPr>
          <a:xfrm>
            <a:off x="457200" y="6510528"/>
            <a:ext cx="2743200" cy="274320"/>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ea typeface="Calibri" pitchFamily="34" charset="-122"/>
                <a:cs typeface="Calibri" pitchFamily="34" charset="-120"/>
              </a:rPr>
              <a:t>CourseMind</a:t>
            </a:r>
            <a:endParaRPr lang="en-US" sz="900" dirty="0"/>
          </a:p>
        </p:txBody>
      </p:sp>
      <p:sp>
        <p:nvSpPr>
          <p:cNvPr id="25" name="Text 21"/>
          <p:cNvSpPr txBox="1"/>
          <p:nvPr/>
        </p:nvSpPr>
        <p:spPr>
          <a:xfrm>
            <a:off x="8988552" y="6510528"/>
            <a:ext cx="2743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65760"/>
            <a:ext cx="11274552" cy="731520"/>
          </a:xfrm>
          <a:prstGeom prst="rect">
            <a:avLst/>
          </a:prstGeom>
          <a:noFill/>
          <a:ln/>
        </p:spPr>
        <p:txBody>
          <a:bodyPr wrap="square" lIns="0" tIns="0" rIns="0" bIns="0" rtlCol="0" anchor="ctr"/>
          <a:lstStyle/>
          <a:p>
            <a:pPr rtl="1" algn="r" indent="0" marL="0">
              <a:buNone/>
            </a:pPr>
            <a:r>
              <a:rPr lang="en-US" sz="3400" b="1" dirty="0">
                <a:solidFill>
                  <a:srgbClr val="1B2A4A"/>
                </a:solidFill>
                <a:latin typeface="Calibri" pitchFamily="34" charset="0"/>
                <a:ea typeface="Calibri" pitchFamily="34" charset="-122"/>
                <a:cs typeface="Calibri" pitchFamily="34" charset="-120"/>
              </a:rPr>
              <a:t>חוויית המשתמש</a:t>
            </a:r>
            <a:endParaRPr lang="en-US" sz="3400" dirty="0"/>
          </a:p>
        </p:txBody>
      </p:sp>
      <p:sp>
        <p:nvSpPr>
          <p:cNvPr id="3" name="Shape 1"/>
          <p:cNvSpPr/>
          <p:nvPr/>
        </p:nvSpPr>
        <p:spPr>
          <a:xfrm>
            <a:off x="4631436" y="1051560"/>
            <a:ext cx="2926080" cy="502920"/>
          </a:xfrm>
          <a:prstGeom prst="roundRect">
            <a:avLst>
              <a:gd name="adj" fmla="val 50909"/>
            </a:avLst>
          </a:prstGeom>
          <a:solidFill>
            <a:srgbClr val="D9A441"/>
          </a:solidFill>
          <a:ln/>
        </p:spPr>
      </p:sp>
      <p:sp>
        <p:nvSpPr>
          <p:cNvPr id="4" name="Text 2"/>
          <p:cNvSpPr txBox="1"/>
          <p:nvPr/>
        </p:nvSpPr>
        <p:spPr>
          <a:xfrm>
            <a:off x="4631436" y="1051560"/>
            <a:ext cx="2926080" cy="502920"/>
          </a:xfrm>
          <a:prstGeom prst="rect">
            <a:avLst/>
          </a:prstGeom>
          <a:noFill/>
          <a:ln/>
        </p:spPr>
        <p:txBody>
          <a:bodyPr wrap="square" lIns="0" tIns="0" rIns="0" bIns="0" rtlCol="0" anchor="ctr"/>
          <a:lstStyle/>
          <a:p>
            <a:pPr algn="ctr" indent="0" marL="0">
              <a:buNone/>
            </a:pPr>
            <a:r>
              <a:rPr lang="en-US" sz="2000" b="1" dirty="0">
                <a:solidFill>
                  <a:srgbClr val="1B2A4A"/>
                </a:solidFill>
                <a:latin typeface="Calibri" pitchFamily="34" charset="0"/>
                <a:ea typeface="Calibri" pitchFamily="34" charset="-122"/>
                <a:cs typeface="Calibri" pitchFamily="34" charset="-120"/>
              </a:rPr>
              <a:t>LIVE DEMO</a:t>
            </a:r>
            <a:endParaRPr lang="en-US" sz="2000" dirty="0"/>
          </a:p>
        </p:txBody>
      </p:sp>
      <p:sp>
        <p:nvSpPr>
          <p:cNvPr id="5" name="Shape 3"/>
          <p:cNvSpPr/>
          <p:nvPr/>
        </p:nvSpPr>
        <p:spPr>
          <a:xfrm>
            <a:off x="699516" y="1965960"/>
            <a:ext cx="3383280" cy="2834640"/>
          </a:xfrm>
          <a:prstGeom prst="roundRect">
            <a:avLst>
              <a:gd name="adj" fmla="val 2581"/>
            </a:avLst>
          </a:prstGeom>
          <a:solidFill>
            <a:srgbClr val="E9EEF6"/>
          </a:solidFill>
          <a:ln w="15875">
            <a:solidFill>
              <a:srgbClr val="1B2A4A"/>
            </a:solidFill>
            <a:prstDash val="dash"/>
          </a:ln>
        </p:spPr>
      </p:sp>
      <p:pic>
        <p:nvPicPr>
          <p:cNvPr id="6" name="Image 0" descr="file icon">    </p:cNvPr>
          <p:cNvPicPr>
            <a:picLocks noChangeAspect="1"/>
          </p:cNvPicPr>
          <p:nvPr/>
        </p:nvPicPr>
        <p:blipFill>
          <a:blip r:embed="rId1"/>
          <a:stretch>
            <a:fillRect/>
          </a:stretch>
        </p:blipFill>
        <p:spPr>
          <a:xfrm>
            <a:off x="2071116" y="2880360"/>
            <a:ext cx="640080" cy="640080"/>
          </a:xfrm>
          <a:prstGeom prst="rect">
            <a:avLst/>
          </a:prstGeom>
        </p:spPr>
      </p:pic>
      <p:sp>
        <p:nvSpPr>
          <p:cNvPr id="7" name="Text 4"/>
          <p:cNvSpPr txBox="1"/>
          <p:nvPr/>
        </p:nvSpPr>
        <p:spPr>
          <a:xfrm>
            <a:off x="836676" y="4297680"/>
            <a:ext cx="3108960" cy="411480"/>
          </a:xfrm>
          <a:prstGeom prst="rect">
            <a:avLst/>
          </a:prstGeom>
          <a:noFill/>
          <a:ln/>
        </p:spPr>
        <p:txBody>
          <a:bodyPr wrap="square" lIns="0" tIns="0" rIns="0" bIns="0" rtlCol="0" anchor="ctr"/>
          <a:lstStyle/>
          <a:p>
            <a:pPr rtl="1" algn="ctr" indent="0" marL="0">
              <a:buNone/>
            </a:pPr>
            <a:r>
              <a:rPr lang="en-US" sz="1100" b="1" dirty="0">
                <a:solidFill>
                  <a:srgbClr val="1B2A4A"/>
                </a:solidFill>
                <a:latin typeface="Calibri" pitchFamily="34" charset="0"/>
                <a:ea typeface="Calibri" pitchFamily="34" charset="-122"/>
                <a:cs typeface="Calibri" pitchFamily="34" charset="-120"/>
              </a:rPr>
              <a:t>צילום מסך — מסך פתיחה</a:t>
            </a:r>
            <a:endParaRPr lang="en-US" sz="1100" dirty="0"/>
          </a:p>
        </p:txBody>
      </p:sp>
      <p:sp>
        <p:nvSpPr>
          <p:cNvPr id="8" name="Shape 5"/>
          <p:cNvSpPr/>
          <p:nvPr/>
        </p:nvSpPr>
        <p:spPr>
          <a:xfrm>
            <a:off x="4402836" y="1965960"/>
            <a:ext cx="3383280" cy="2834640"/>
          </a:xfrm>
          <a:prstGeom prst="roundRect">
            <a:avLst>
              <a:gd name="adj" fmla="val 2581"/>
            </a:avLst>
          </a:prstGeom>
          <a:solidFill>
            <a:srgbClr val="E9EEF6"/>
          </a:solidFill>
          <a:ln w="15875">
            <a:solidFill>
              <a:srgbClr val="1B2A4A"/>
            </a:solidFill>
            <a:prstDash val="dash"/>
          </a:ln>
        </p:spPr>
      </p:sp>
      <p:pic>
        <p:nvPicPr>
          <p:cNvPr id="9" name="Image 1" descr="file icon">    </p:cNvPr>
          <p:cNvPicPr>
            <a:picLocks noChangeAspect="1"/>
          </p:cNvPicPr>
          <p:nvPr/>
        </p:nvPicPr>
        <p:blipFill>
          <a:blip r:embed="rId2"/>
          <a:stretch>
            <a:fillRect/>
          </a:stretch>
        </p:blipFill>
        <p:spPr>
          <a:xfrm>
            <a:off x="5774436" y="2880360"/>
            <a:ext cx="640080" cy="640080"/>
          </a:xfrm>
          <a:prstGeom prst="rect">
            <a:avLst/>
          </a:prstGeom>
        </p:spPr>
      </p:pic>
      <p:sp>
        <p:nvSpPr>
          <p:cNvPr id="10" name="Text 6"/>
          <p:cNvSpPr txBox="1"/>
          <p:nvPr/>
        </p:nvSpPr>
        <p:spPr>
          <a:xfrm>
            <a:off x="4539996" y="4297680"/>
            <a:ext cx="3108960" cy="411480"/>
          </a:xfrm>
          <a:prstGeom prst="rect">
            <a:avLst/>
          </a:prstGeom>
          <a:noFill/>
          <a:ln/>
        </p:spPr>
        <p:txBody>
          <a:bodyPr wrap="square" lIns="0" tIns="0" rIns="0" bIns="0" rtlCol="0" anchor="ctr"/>
          <a:lstStyle/>
          <a:p>
            <a:pPr rtl="1" algn="ctr" indent="0" marL="0">
              <a:buNone/>
            </a:pPr>
            <a:r>
              <a:rPr lang="en-US" sz="1100" b="1" dirty="0">
                <a:solidFill>
                  <a:srgbClr val="1B2A4A"/>
                </a:solidFill>
                <a:latin typeface="Calibri" pitchFamily="34" charset="0"/>
                <a:ea typeface="Calibri" pitchFamily="34" charset="-122"/>
                <a:cs typeface="Calibri" pitchFamily="34" charset="-120"/>
              </a:rPr>
              <a:t>צילום מסך — 21 עמודים · 27 Chunks</a:t>
            </a:r>
            <a:endParaRPr lang="en-US" sz="1100" dirty="0"/>
          </a:p>
        </p:txBody>
      </p:sp>
      <p:sp>
        <p:nvSpPr>
          <p:cNvPr id="11" name="Shape 7"/>
          <p:cNvSpPr/>
          <p:nvPr/>
        </p:nvSpPr>
        <p:spPr>
          <a:xfrm>
            <a:off x="8106156" y="1965960"/>
            <a:ext cx="3383280" cy="2834640"/>
          </a:xfrm>
          <a:prstGeom prst="roundRect">
            <a:avLst>
              <a:gd name="adj" fmla="val 2581"/>
            </a:avLst>
          </a:prstGeom>
          <a:solidFill>
            <a:srgbClr val="E9EEF6"/>
          </a:solidFill>
          <a:ln w="15875">
            <a:solidFill>
              <a:srgbClr val="1B2A4A"/>
            </a:solidFill>
            <a:prstDash val="dash"/>
          </a:ln>
        </p:spPr>
      </p:sp>
      <p:pic>
        <p:nvPicPr>
          <p:cNvPr id="12" name="Image 2" descr="file icon">    </p:cNvPr>
          <p:cNvPicPr>
            <a:picLocks noChangeAspect="1"/>
          </p:cNvPicPr>
          <p:nvPr/>
        </p:nvPicPr>
        <p:blipFill>
          <a:blip r:embed="rId3"/>
          <a:stretch>
            <a:fillRect/>
          </a:stretch>
        </p:blipFill>
        <p:spPr>
          <a:xfrm>
            <a:off x="9477756" y="2880360"/>
            <a:ext cx="640080" cy="640080"/>
          </a:xfrm>
          <a:prstGeom prst="rect">
            <a:avLst/>
          </a:prstGeom>
        </p:spPr>
      </p:pic>
      <p:sp>
        <p:nvSpPr>
          <p:cNvPr id="13" name="Text 8"/>
          <p:cNvSpPr txBox="1"/>
          <p:nvPr/>
        </p:nvSpPr>
        <p:spPr>
          <a:xfrm>
            <a:off x="8243316" y="4297680"/>
            <a:ext cx="3108960" cy="411480"/>
          </a:xfrm>
          <a:prstGeom prst="rect">
            <a:avLst/>
          </a:prstGeom>
          <a:noFill/>
          <a:ln/>
        </p:spPr>
        <p:txBody>
          <a:bodyPr wrap="square" lIns="0" tIns="0" rIns="0" bIns="0" rtlCol="0" anchor="ctr"/>
          <a:lstStyle/>
          <a:p>
            <a:pPr rtl="1" algn="ctr" indent="0" marL="0">
              <a:buNone/>
            </a:pPr>
            <a:r>
              <a:rPr lang="en-US" sz="1100" b="1" dirty="0">
                <a:solidFill>
                  <a:srgbClr val="1B2A4A"/>
                </a:solidFill>
                <a:latin typeface="Calibri" pitchFamily="34" charset="0"/>
                <a:ea typeface="Calibri" pitchFamily="34" charset="-122"/>
                <a:cs typeface="Calibri" pitchFamily="34" charset="-120"/>
              </a:rPr>
              <a:t>צילום מסך — תשובה + Sources</a:t>
            </a:r>
            <a:endParaRPr lang="en-US" sz="1100" dirty="0"/>
          </a:p>
        </p:txBody>
      </p:sp>
      <p:sp>
        <p:nvSpPr>
          <p:cNvPr id="15" name="Text 9"/>
          <p:cNvSpPr txBox="1"/>
          <p:nvPr/>
        </p:nvSpPr>
        <p:spPr>
          <a:xfrm>
            <a:off x="457200" y="6510528"/>
            <a:ext cx="2743200" cy="274320"/>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ea typeface="Calibri" pitchFamily="34" charset="-122"/>
                <a:cs typeface="Calibri" pitchFamily="34" charset="-120"/>
              </a:rPr>
              <a:t>CourseMind</a:t>
            </a:r>
            <a:endParaRPr lang="en-US" sz="900" dirty="0"/>
          </a:p>
        </p:txBody>
      </p:sp>
      <p:sp>
        <p:nvSpPr>
          <p:cNvPr id="16" name="Text 10"/>
          <p:cNvSpPr txBox="1"/>
          <p:nvPr/>
        </p:nvSpPr>
        <p:spPr>
          <a:xfrm>
            <a:off x="8988552" y="6510528"/>
            <a:ext cx="2743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74552" cy="502920"/>
          </a:xfrm>
          <a:prstGeom prst="rect">
            <a:avLst/>
          </a:prstGeom>
          <a:noFill/>
          <a:ln/>
        </p:spPr>
        <p:txBody>
          <a:bodyPr wrap="square" lIns="0" tIns="0" rIns="0" bIns="0" rtlCol="0" anchor="ctr"/>
          <a:lstStyle/>
          <a:p>
            <a:pPr rtl="1" algn="r" indent="0" marL="0">
              <a:buNone/>
            </a:pPr>
            <a:r>
              <a:rPr lang="en-US" sz="3400" b="1" dirty="0">
                <a:solidFill>
                  <a:srgbClr val="1B2A4A"/>
                </a:solidFill>
                <a:latin typeface="Calibri" pitchFamily="34" charset="0"/>
                <a:ea typeface="Calibri" pitchFamily="34" charset="-122"/>
                <a:cs typeface="Calibri" pitchFamily="34" charset="-120"/>
              </a:rPr>
              <a:t>למה זה AI Agent?</a:t>
            </a:r>
            <a:endParaRPr lang="en-US" sz="3400" dirty="0"/>
          </a:p>
        </p:txBody>
      </p:sp>
      <p:sp>
        <p:nvSpPr>
          <p:cNvPr id="3" name="Text 1"/>
          <p:cNvSpPr txBox="1"/>
          <p:nvPr/>
        </p:nvSpPr>
        <p:spPr>
          <a:xfrm>
            <a:off x="457200" y="841248"/>
            <a:ext cx="11274552" cy="365760"/>
          </a:xfrm>
          <a:prstGeom prst="rect">
            <a:avLst/>
          </a:prstGeom>
          <a:noFill/>
          <a:ln/>
        </p:spPr>
        <p:txBody>
          <a:bodyPr wrap="square" lIns="0" tIns="0" rIns="0" bIns="0" rtlCol="0" anchor="ctr"/>
          <a:lstStyle/>
          <a:p>
            <a:pPr rtl="1" algn="r" indent="0" marL="0">
              <a:buNone/>
            </a:pPr>
            <a:r>
              <a:rPr lang="en-US" sz="1500" dirty="0">
                <a:solidFill>
                  <a:srgbClr val="5A6472"/>
                </a:solidFill>
                <a:latin typeface="Calibri" pitchFamily="34" charset="0"/>
                <a:ea typeface="Calibri" pitchFamily="34" charset="-122"/>
                <a:cs typeface="Calibri" pitchFamily="34" charset="-120"/>
              </a:rPr>
              <a:t>ולא Chatbot רגיל?</a:t>
            </a:r>
            <a:endParaRPr lang="en-US" sz="1500" dirty="0"/>
          </a:p>
        </p:txBody>
      </p:sp>
      <p:sp>
        <p:nvSpPr>
          <p:cNvPr id="4" name="Shape 2"/>
          <p:cNvSpPr/>
          <p:nvPr/>
        </p:nvSpPr>
        <p:spPr>
          <a:xfrm>
            <a:off x="457200" y="1417320"/>
            <a:ext cx="2612898" cy="1417320"/>
          </a:xfrm>
          <a:prstGeom prst="roundRect">
            <a:avLst>
              <a:gd name="adj" fmla="val 5806"/>
            </a:avLst>
          </a:prstGeom>
          <a:solidFill>
            <a:srgbClr val="F5F7FA"/>
          </a:solidFill>
          <a:ln/>
          <a:effectLst>
            <a:outerShdw sx="100000" sy="100000" kx="0" ky="0" algn="bl" rotWithShape="0" blurRad="101600" dist="25400" dir="5400000">
              <a:srgbClr val="1B2A4A">
                <a:alpha val="12000"/>
              </a:srgbClr>
            </a:outerShdw>
          </a:effectLst>
        </p:spPr>
      </p:sp>
      <p:pic>
        <p:nvPicPr>
          <p:cNvPr id="5" name="Image 0" descr="check icon">    </p:cNvPr>
          <p:cNvPicPr>
            <a:picLocks noChangeAspect="1"/>
          </p:cNvPicPr>
          <p:nvPr/>
        </p:nvPicPr>
        <p:blipFill>
          <a:blip r:embed="rId1"/>
          <a:stretch>
            <a:fillRect/>
          </a:stretch>
        </p:blipFill>
        <p:spPr>
          <a:xfrm>
            <a:off x="1562481" y="1545336"/>
            <a:ext cx="402336" cy="402336"/>
          </a:xfrm>
          <a:prstGeom prst="rect">
            <a:avLst/>
          </a:prstGeom>
        </p:spPr>
      </p:pic>
      <p:sp>
        <p:nvSpPr>
          <p:cNvPr id="6" name="Text 3"/>
          <p:cNvSpPr txBox="1"/>
          <p:nvPr/>
        </p:nvSpPr>
        <p:spPr>
          <a:xfrm>
            <a:off x="548640" y="1984248"/>
            <a:ext cx="2430018"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Role</a:t>
            </a:r>
            <a:endParaRPr lang="en-US" sz="1300" dirty="0"/>
          </a:p>
        </p:txBody>
      </p:sp>
      <p:sp>
        <p:nvSpPr>
          <p:cNvPr id="7" name="Text 4"/>
          <p:cNvSpPr txBox="1"/>
          <p:nvPr/>
        </p:nvSpPr>
        <p:spPr>
          <a:xfrm>
            <a:off x="548640" y="2313432"/>
            <a:ext cx="2430018" cy="457200"/>
          </a:xfrm>
          <a:prstGeom prst="rect">
            <a:avLst/>
          </a:prstGeom>
          <a:noFill/>
          <a:ln/>
        </p:spPr>
        <p:txBody>
          <a:bodyPr wrap="square" lIns="0" tIns="0" rIns="0" bIns="0" rtlCol="0" anchor="ctr"/>
          <a:lstStyle/>
          <a:p>
            <a:pPr rtl="1" algn="ctr" indent="0" marL="0">
              <a:buNone/>
            </a:pPr>
            <a:r>
              <a:rPr lang="en-US" sz="1000" dirty="0">
                <a:solidFill>
                  <a:srgbClr val="5A6472"/>
                </a:solidFill>
                <a:latin typeface="Calibri" pitchFamily="34" charset="0"/>
                <a:ea typeface="Calibri" pitchFamily="34" charset="-122"/>
                <a:cs typeface="Calibri" pitchFamily="34" charset="-120"/>
              </a:rPr>
              <a:t>Personal AI Study Assistant</a:t>
            </a:r>
            <a:endParaRPr lang="en-US" sz="1000" dirty="0"/>
          </a:p>
        </p:txBody>
      </p:sp>
      <p:sp>
        <p:nvSpPr>
          <p:cNvPr id="8" name="Shape 5"/>
          <p:cNvSpPr/>
          <p:nvPr/>
        </p:nvSpPr>
        <p:spPr>
          <a:xfrm>
            <a:off x="3344418" y="1417320"/>
            <a:ext cx="2612898" cy="1417320"/>
          </a:xfrm>
          <a:prstGeom prst="roundRect">
            <a:avLst>
              <a:gd name="adj" fmla="val 5806"/>
            </a:avLst>
          </a:prstGeom>
          <a:solidFill>
            <a:srgbClr val="F5F7FA"/>
          </a:solidFill>
          <a:ln/>
          <a:effectLst>
            <a:outerShdw sx="100000" sy="100000" kx="0" ky="0" algn="bl" rotWithShape="0" blurRad="101600" dist="25400" dir="5400000">
              <a:srgbClr val="1B2A4A">
                <a:alpha val="12000"/>
              </a:srgbClr>
            </a:outerShdw>
          </a:effectLst>
        </p:spPr>
      </p:sp>
      <p:pic>
        <p:nvPicPr>
          <p:cNvPr id="9" name="Image 1" descr="check icon">    </p:cNvPr>
          <p:cNvPicPr>
            <a:picLocks noChangeAspect="1"/>
          </p:cNvPicPr>
          <p:nvPr/>
        </p:nvPicPr>
        <p:blipFill>
          <a:blip r:embed="rId2"/>
          <a:stretch>
            <a:fillRect/>
          </a:stretch>
        </p:blipFill>
        <p:spPr>
          <a:xfrm>
            <a:off x="4449699" y="1545336"/>
            <a:ext cx="402336" cy="402336"/>
          </a:xfrm>
          <a:prstGeom prst="rect">
            <a:avLst/>
          </a:prstGeom>
        </p:spPr>
      </p:pic>
      <p:sp>
        <p:nvSpPr>
          <p:cNvPr id="10" name="Text 6"/>
          <p:cNvSpPr txBox="1"/>
          <p:nvPr/>
        </p:nvSpPr>
        <p:spPr>
          <a:xfrm>
            <a:off x="3435858" y="1984248"/>
            <a:ext cx="2430018"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Goal</a:t>
            </a:r>
            <a:endParaRPr lang="en-US" sz="1300" dirty="0"/>
          </a:p>
        </p:txBody>
      </p:sp>
      <p:sp>
        <p:nvSpPr>
          <p:cNvPr id="11" name="Text 7"/>
          <p:cNvSpPr txBox="1"/>
          <p:nvPr/>
        </p:nvSpPr>
        <p:spPr>
          <a:xfrm>
            <a:off x="3435858" y="2313432"/>
            <a:ext cx="2430018" cy="457200"/>
          </a:xfrm>
          <a:prstGeom prst="rect">
            <a:avLst/>
          </a:prstGeom>
          <a:noFill/>
          <a:ln/>
        </p:spPr>
        <p:txBody>
          <a:bodyPr wrap="square" lIns="0" tIns="0" rIns="0" bIns="0" rtlCol="0" anchor="ctr"/>
          <a:lstStyle/>
          <a:p>
            <a:pPr rtl="1" algn="ctr" indent="0" marL="0">
              <a:buNone/>
            </a:pPr>
            <a:r>
              <a:rPr lang="en-US" sz="1000" dirty="0">
                <a:solidFill>
                  <a:srgbClr val="5A6472"/>
                </a:solidFill>
                <a:latin typeface="Calibri" pitchFamily="34" charset="0"/>
                <a:ea typeface="Calibri" pitchFamily="34" charset="-122"/>
                <a:cs typeface="Calibri" pitchFamily="34" charset="-120"/>
              </a:rPr>
              <a:t>הבנת חומר הקורס דרך אחזור עדות</a:t>
            </a:r>
            <a:endParaRPr lang="en-US" sz="1000" dirty="0"/>
          </a:p>
        </p:txBody>
      </p:sp>
      <p:sp>
        <p:nvSpPr>
          <p:cNvPr id="12" name="Shape 8"/>
          <p:cNvSpPr/>
          <p:nvPr/>
        </p:nvSpPr>
        <p:spPr>
          <a:xfrm>
            <a:off x="6231636" y="1417320"/>
            <a:ext cx="2612898" cy="1417320"/>
          </a:xfrm>
          <a:prstGeom prst="roundRect">
            <a:avLst>
              <a:gd name="adj" fmla="val 5806"/>
            </a:avLst>
          </a:prstGeom>
          <a:solidFill>
            <a:srgbClr val="F5F7FA"/>
          </a:solidFill>
          <a:ln/>
          <a:effectLst>
            <a:outerShdw sx="100000" sy="100000" kx="0" ky="0" algn="bl" rotWithShape="0" blurRad="101600" dist="25400" dir="5400000">
              <a:srgbClr val="1B2A4A">
                <a:alpha val="12000"/>
              </a:srgbClr>
            </a:outerShdw>
          </a:effectLst>
        </p:spPr>
      </p:sp>
      <p:pic>
        <p:nvPicPr>
          <p:cNvPr id="13" name="Image 2" descr="check icon">    </p:cNvPr>
          <p:cNvPicPr>
            <a:picLocks noChangeAspect="1"/>
          </p:cNvPicPr>
          <p:nvPr/>
        </p:nvPicPr>
        <p:blipFill>
          <a:blip r:embed="rId3"/>
          <a:stretch>
            <a:fillRect/>
          </a:stretch>
        </p:blipFill>
        <p:spPr>
          <a:xfrm>
            <a:off x="7336917" y="1545336"/>
            <a:ext cx="402336" cy="402336"/>
          </a:xfrm>
          <a:prstGeom prst="rect">
            <a:avLst/>
          </a:prstGeom>
        </p:spPr>
      </p:pic>
      <p:sp>
        <p:nvSpPr>
          <p:cNvPr id="14" name="Text 9"/>
          <p:cNvSpPr txBox="1"/>
          <p:nvPr/>
        </p:nvSpPr>
        <p:spPr>
          <a:xfrm>
            <a:off x="6323076" y="1984248"/>
            <a:ext cx="2430018"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Backstory</a:t>
            </a:r>
            <a:endParaRPr lang="en-US" sz="1300" dirty="0"/>
          </a:p>
        </p:txBody>
      </p:sp>
      <p:sp>
        <p:nvSpPr>
          <p:cNvPr id="15" name="Text 10"/>
          <p:cNvSpPr txBox="1"/>
          <p:nvPr/>
        </p:nvSpPr>
        <p:spPr>
          <a:xfrm>
            <a:off x="6323076" y="2313432"/>
            <a:ext cx="2430018" cy="457200"/>
          </a:xfrm>
          <a:prstGeom prst="rect">
            <a:avLst/>
          </a:prstGeom>
          <a:noFill/>
          <a:ln/>
        </p:spPr>
        <p:txBody>
          <a:bodyPr wrap="square" lIns="0" tIns="0" rIns="0" bIns="0" rtlCol="0" anchor="ctr"/>
          <a:lstStyle/>
          <a:p>
            <a:pPr rtl="1" algn="ctr" indent="0" marL="0">
              <a:buNone/>
            </a:pPr>
            <a:r>
              <a:rPr lang="en-US" sz="1000" dirty="0">
                <a:solidFill>
                  <a:srgbClr val="5A6472"/>
                </a:solidFill>
                <a:latin typeface="Calibri" pitchFamily="34" charset="0"/>
                <a:ea typeface="Calibri" pitchFamily="34" charset="-122"/>
                <a:cs typeface="Calibri" pitchFamily="34" charset="-120"/>
              </a:rPr>
              <a:t>מורה פרטי סבלני וזהיר</a:t>
            </a:r>
            <a:endParaRPr lang="en-US" sz="1000" dirty="0"/>
          </a:p>
        </p:txBody>
      </p:sp>
      <p:sp>
        <p:nvSpPr>
          <p:cNvPr id="16" name="Shape 11"/>
          <p:cNvSpPr/>
          <p:nvPr/>
        </p:nvSpPr>
        <p:spPr>
          <a:xfrm>
            <a:off x="9118854" y="1417320"/>
            <a:ext cx="2612898" cy="1417320"/>
          </a:xfrm>
          <a:prstGeom prst="roundRect">
            <a:avLst>
              <a:gd name="adj" fmla="val 5806"/>
            </a:avLst>
          </a:prstGeom>
          <a:solidFill>
            <a:srgbClr val="F5F7FA"/>
          </a:solidFill>
          <a:ln/>
          <a:effectLst>
            <a:outerShdw sx="100000" sy="100000" kx="0" ky="0" algn="bl" rotWithShape="0" blurRad="101600" dist="25400" dir="5400000">
              <a:srgbClr val="1B2A4A">
                <a:alpha val="12000"/>
              </a:srgbClr>
            </a:outerShdw>
          </a:effectLst>
        </p:spPr>
      </p:sp>
      <p:pic>
        <p:nvPicPr>
          <p:cNvPr id="17" name="Image 3" descr="check icon">    </p:cNvPr>
          <p:cNvPicPr>
            <a:picLocks noChangeAspect="1"/>
          </p:cNvPicPr>
          <p:nvPr/>
        </p:nvPicPr>
        <p:blipFill>
          <a:blip r:embed="rId4"/>
          <a:stretch>
            <a:fillRect/>
          </a:stretch>
        </p:blipFill>
        <p:spPr>
          <a:xfrm>
            <a:off x="10224135" y="1545336"/>
            <a:ext cx="402336" cy="402336"/>
          </a:xfrm>
          <a:prstGeom prst="rect">
            <a:avLst/>
          </a:prstGeom>
        </p:spPr>
      </p:pic>
      <p:sp>
        <p:nvSpPr>
          <p:cNvPr id="18" name="Text 12"/>
          <p:cNvSpPr txBox="1"/>
          <p:nvPr/>
        </p:nvSpPr>
        <p:spPr>
          <a:xfrm>
            <a:off x="9210294" y="1984248"/>
            <a:ext cx="2430018"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Tool אמיתי</a:t>
            </a:r>
            <a:endParaRPr lang="en-US" sz="1300" dirty="0"/>
          </a:p>
        </p:txBody>
      </p:sp>
      <p:sp>
        <p:nvSpPr>
          <p:cNvPr id="19" name="Text 13"/>
          <p:cNvSpPr txBox="1"/>
          <p:nvPr/>
        </p:nvSpPr>
        <p:spPr>
          <a:xfrm>
            <a:off x="9210294" y="2313432"/>
            <a:ext cx="2430018" cy="457200"/>
          </a:xfrm>
          <a:prstGeom prst="rect">
            <a:avLst/>
          </a:prstGeom>
          <a:noFill/>
          <a:ln/>
        </p:spPr>
        <p:txBody>
          <a:bodyPr wrap="square" lIns="0" tIns="0" rIns="0" bIns="0" rtlCol="0" anchor="ctr"/>
          <a:lstStyle/>
          <a:p>
            <a:pPr rtl="1" algn="ctr" indent="0" marL="0">
              <a:buNone/>
            </a:pPr>
            <a:r>
              <a:rPr lang="en-US" sz="1000" dirty="0">
                <a:solidFill>
                  <a:srgbClr val="5A6472"/>
                </a:solidFill>
                <a:latin typeface="Calibri" pitchFamily="34" charset="0"/>
                <a:ea typeface="Calibri" pitchFamily="34" charset="-122"/>
                <a:cs typeface="Calibri" pitchFamily="34" charset="-120"/>
              </a:rPr>
              <a:t>CourseMaterialSearchTool</a:t>
            </a:r>
            <a:endParaRPr lang="en-US" sz="1000" dirty="0"/>
          </a:p>
        </p:txBody>
      </p:sp>
      <p:sp>
        <p:nvSpPr>
          <p:cNvPr id="20" name="Shape 14"/>
          <p:cNvSpPr/>
          <p:nvPr/>
        </p:nvSpPr>
        <p:spPr>
          <a:xfrm>
            <a:off x="457200" y="3063240"/>
            <a:ext cx="2612898" cy="1417320"/>
          </a:xfrm>
          <a:prstGeom prst="roundRect">
            <a:avLst>
              <a:gd name="adj" fmla="val 5806"/>
            </a:avLst>
          </a:prstGeom>
          <a:solidFill>
            <a:srgbClr val="F5F7FA"/>
          </a:solidFill>
          <a:ln/>
          <a:effectLst>
            <a:outerShdw sx="100000" sy="100000" kx="0" ky="0" algn="bl" rotWithShape="0" blurRad="101600" dist="25400" dir="5400000">
              <a:srgbClr val="1B2A4A">
                <a:alpha val="12000"/>
              </a:srgbClr>
            </a:outerShdw>
          </a:effectLst>
        </p:spPr>
      </p:sp>
      <p:pic>
        <p:nvPicPr>
          <p:cNvPr id="21" name="Image 4" descr="check icon">    </p:cNvPr>
          <p:cNvPicPr>
            <a:picLocks noChangeAspect="1"/>
          </p:cNvPicPr>
          <p:nvPr/>
        </p:nvPicPr>
        <p:blipFill>
          <a:blip r:embed="rId5"/>
          <a:stretch>
            <a:fillRect/>
          </a:stretch>
        </p:blipFill>
        <p:spPr>
          <a:xfrm>
            <a:off x="1562481" y="3191256"/>
            <a:ext cx="402336" cy="402336"/>
          </a:xfrm>
          <a:prstGeom prst="rect">
            <a:avLst/>
          </a:prstGeom>
        </p:spPr>
      </p:pic>
      <p:sp>
        <p:nvSpPr>
          <p:cNvPr id="22" name="Text 15"/>
          <p:cNvSpPr txBox="1"/>
          <p:nvPr/>
        </p:nvSpPr>
        <p:spPr>
          <a:xfrm>
            <a:off x="548640" y="3630168"/>
            <a:ext cx="2430018"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Task</a:t>
            </a:r>
            <a:endParaRPr lang="en-US" sz="1300" dirty="0"/>
          </a:p>
        </p:txBody>
      </p:sp>
      <p:sp>
        <p:nvSpPr>
          <p:cNvPr id="23" name="Text 16"/>
          <p:cNvSpPr txBox="1"/>
          <p:nvPr/>
        </p:nvSpPr>
        <p:spPr>
          <a:xfrm>
            <a:off x="548640" y="3959352"/>
            <a:ext cx="2430018" cy="457200"/>
          </a:xfrm>
          <a:prstGeom prst="rect">
            <a:avLst/>
          </a:prstGeom>
          <a:noFill/>
          <a:ln/>
        </p:spPr>
        <p:txBody>
          <a:bodyPr wrap="square" lIns="0" tIns="0" rIns="0" bIns="0" rtlCol="0" anchor="ctr"/>
          <a:lstStyle/>
          <a:p>
            <a:pPr rtl="1" algn="ctr" indent="0" marL="0">
              <a:buNone/>
            </a:pPr>
            <a:r>
              <a:rPr lang="en-US" sz="1000" dirty="0">
                <a:solidFill>
                  <a:srgbClr val="5A6472"/>
                </a:solidFill>
                <a:latin typeface="Calibri" pitchFamily="34" charset="0"/>
                <a:ea typeface="Calibri" pitchFamily="34" charset="-122"/>
                <a:cs typeface="Calibri" pitchFamily="34" charset="-120"/>
              </a:rPr>
              <a:t>מענה מבוסס-עדות לשאלה</a:t>
            </a:r>
            <a:endParaRPr lang="en-US" sz="1000" dirty="0"/>
          </a:p>
        </p:txBody>
      </p:sp>
      <p:sp>
        <p:nvSpPr>
          <p:cNvPr id="24" name="Shape 17"/>
          <p:cNvSpPr/>
          <p:nvPr/>
        </p:nvSpPr>
        <p:spPr>
          <a:xfrm>
            <a:off x="3344418" y="3063240"/>
            <a:ext cx="2612898" cy="1417320"/>
          </a:xfrm>
          <a:prstGeom prst="roundRect">
            <a:avLst>
              <a:gd name="adj" fmla="val 5806"/>
            </a:avLst>
          </a:prstGeom>
          <a:solidFill>
            <a:srgbClr val="F5F7FA"/>
          </a:solidFill>
          <a:ln/>
          <a:effectLst>
            <a:outerShdw sx="100000" sy="100000" kx="0" ky="0" algn="bl" rotWithShape="0" blurRad="101600" dist="25400" dir="5400000">
              <a:srgbClr val="1B2A4A">
                <a:alpha val="12000"/>
              </a:srgbClr>
            </a:outerShdw>
          </a:effectLst>
        </p:spPr>
      </p:sp>
      <p:pic>
        <p:nvPicPr>
          <p:cNvPr id="25" name="Image 5" descr="check icon">    </p:cNvPr>
          <p:cNvPicPr>
            <a:picLocks noChangeAspect="1"/>
          </p:cNvPicPr>
          <p:nvPr/>
        </p:nvPicPr>
        <p:blipFill>
          <a:blip r:embed="rId6"/>
          <a:stretch>
            <a:fillRect/>
          </a:stretch>
        </p:blipFill>
        <p:spPr>
          <a:xfrm>
            <a:off x="4449699" y="3191256"/>
            <a:ext cx="402336" cy="402336"/>
          </a:xfrm>
          <a:prstGeom prst="rect">
            <a:avLst/>
          </a:prstGeom>
        </p:spPr>
      </p:pic>
      <p:sp>
        <p:nvSpPr>
          <p:cNvPr id="26" name="Text 18"/>
          <p:cNvSpPr txBox="1"/>
          <p:nvPr/>
        </p:nvSpPr>
        <p:spPr>
          <a:xfrm>
            <a:off x="3435858" y="3630168"/>
            <a:ext cx="2430018"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Crew</a:t>
            </a:r>
            <a:endParaRPr lang="en-US" sz="1300" dirty="0"/>
          </a:p>
        </p:txBody>
      </p:sp>
      <p:sp>
        <p:nvSpPr>
          <p:cNvPr id="27" name="Text 19"/>
          <p:cNvSpPr txBox="1"/>
          <p:nvPr/>
        </p:nvSpPr>
        <p:spPr>
          <a:xfrm>
            <a:off x="3435858" y="3959352"/>
            <a:ext cx="2430018" cy="457200"/>
          </a:xfrm>
          <a:prstGeom prst="rect">
            <a:avLst/>
          </a:prstGeom>
          <a:noFill/>
          <a:ln/>
        </p:spPr>
        <p:txBody>
          <a:bodyPr wrap="square" lIns="0" tIns="0" rIns="0" bIns="0" rtlCol="0" anchor="ctr"/>
          <a:lstStyle/>
          <a:p>
            <a:pPr rtl="1" algn="ctr" indent="0" marL="0">
              <a:buNone/>
            </a:pPr>
            <a:r>
              <a:rPr lang="en-US" sz="1000" dirty="0">
                <a:solidFill>
                  <a:srgbClr val="5A6472"/>
                </a:solidFill>
                <a:latin typeface="Calibri" pitchFamily="34" charset="0"/>
                <a:ea typeface="Calibri" pitchFamily="34" charset="-122"/>
                <a:cs typeface="Calibri" pitchFamily="34" charset="-120"/>
              </a:rPr>
              <a:t>1 Agent + 1 Task</a:t>
            </a:r>
            <a:endParaRPr lang="en-US" sz="1000" dirty="0"/>
          </a:p>
        </p:txBody>
      </p:sp>
      <p:sp>
        <p:nvSpPr>
          <p:cNvPr id="28" name="Shape 20"/>
          <p:cNvSpPr/>
          <p:nvPr/>
        </p:nvSpPr>
        <p:spPr>
          <a:xfrm>
            <a:off x="6231636" y="3063240"/>
            <a:ext cx="2612898" cy="1417320"/>
          </a:xfrm>
          <a:prstGeom prst="roundRect">
            <a:avLst>
              <a:gd name="adj" fmla="val 5806"/>
            </a:avLst>
          </a:prstGeom>
          <a:solidFill>
            <a:srgbClr val="F5F7FA"/>
          </a:solidFill>
          <a:ln/>
          <a:effectLst>
            <a:outerShdw sx="100000" sy="100000" kx="0" ky="0" algn="bl" rotWithShape="0" blurRad="101600" dist="25400" dir="5400000">
              <a:srgbClr val="1B2A4A">
                <a:alpha val="12000"/>
              </a:srgbClr>
            </a:outerShdw>
          </a:effectLst>
        </p:spPr>
      </p:sp>
      <p:pic>
        <p:nvPicPr>
          <p:cNvPr id="29" name="Image 6" descr="check icon">    </p:cNvPr>
          <p:cNvPicPr>
            <a:picLocks noChangeAspect="1"/>
          </p:cNvPicPr>
          <p:nvPr/>
        </p:nvPicPr>
        <p:blipFill>
          <a:blip r:embed="rId7"/>
          <a:stretch>
            <a:fillRect/>
          </a:stretch>
        </p:blipFill>
        <p:spPr>
          <a:xfrm>
            <a:off x="7336917" y="3191256"/>
            <a:ext cx="402336" cy="402336"/>
          </a:xfrm>
          <a:prstGeom prst="rect">
            <a:avLst/>
          </a:prstGeom>
        </p:spPr>
      </p:pic>
      <p:sp>
        <p:nvSpPr>
          <p:cNvPr id="30" name="Text 21"/>
          <p:cNvSpPr txBox="1"/>
          <p:nvPr/>
        </p:nvSpPr>
        <p:spPr>
          <a:xfrm>
            <a:off x="6323076" y="3630168"/>
            <a:ext cx="2430018"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הפעלת Tool בפועל</a:t>
            </a:r>
            <a:endParaRPr lang="en-US" sz="1300" dirty="0"/>
          </a:p>
        </p:txBody>
      </p:sp>
      <p:sp>
        <p:nvSpPr>
          <p:cNvPr id="31" name="Text 22"/>
          <p:cNvSpPr txBox="1"/>
          <p:nvPr/>
        </p:nvSpPr>
        <p:spPr>
          <a:xfrm>
            <a:off x="6323076" y="3959352"/>
            <a:ext cx="2430018" cy="457200"/>
          </a:xfrm>
          <a:prstGeom prst="rect">
            <a:avLst/>
          </a:prstGeom>
          <a:noFill/>
          <a:ln/>
        </p:spPr>
        <p:txBody>
          <a:bodyPr wrap="square" lIns="0" tIns="0" rIns="0" bIns="0" rtlCol="0" anchor="ctr"/>
          <a:lstStyle/>
          <a:p>
            <a:pPr rtl="1" algn="ctr" indent="0" marL="0">
              <a:buNone/>
            </a:pPr>
            <a:r>
              <a:rPr lang="en-US" sz="1000" dirty="0">
                <a:solidFill>
                  <a:srgbClr val="5A6472"/>
                </a:solidFill>
                <a:latin typeface="Calibri" pitchFamily="34" charset="0"/>
                <a:ea typeface="Calibri" pitchFamily="34" charset="-122"/>
                <a:cs typeface="Calibri" pitchFamily="34" charset="-120"/>
              </a:rPr>
              <a:t>נבדק ואומת בקוד</a:t>
            </a:r>
            <a:endParaRPr lang="en-US" sz="1000" dirty="0"/>
          </a:p>
        </p:txBody>
      </p:sp>
      <p:sp>
        <p:nvSpPr>
          <p:cNvPr id="32" name="Shape 23"/>
          <p:cNvSpPr/>
          <p:nvPr/>
        </p:nvSpPr>
        <p:spPr>
          <a:xfrm>
            <a:off x="457200" y="5989320"/>
            <a:ext cx="11274552" cy="640080"/>
          </a:xfrm>
          <a:prstGeom prst="roundRect">
            <a:avLst>
              <a:gd name="adj" fmla="val 12857"/>
            </a:avLst>
          </a:prstGeom>
          <a:solidFill>
            <a:srgbClr val="1B2A4A"/>
          </a:solidFill>
          <a:ln/>
          <a:effectLst>
            <a:outerShdw sx="100000" sy="100000" kx="0" ky="0" algn="bl" rotWithShape="0" blurRad="101600" dist="25400" dir="5400000">
              <a:srgbClr val="1B2A4A">
                <a:alpha val="12000"/>
              </a:srgbClr>
            </a:outerShdw>
          </a:effectLst>
        </p:spPr>
      </p:sp>
      <p:sp>
        <p:nvSpPr>
          <p:cNvPr id="33" name="Text 24"/>
          <p:cNvSpPr txBox="1"/>
          <p:nvPr/>
        </p:nvSpPr>
        <p:spPr>
          <a:xfrm>
            <a:off x="640080" y="5989320"/>
            <a:ext cx="10908792" cy="640080"/>
          </a:xfrm>
          <a:prstGeom prst="rect">
            <a:avLst/>
          </a:prstGeom>
          <a:noFill/>
          <a:ln/>
        </p:spPr>
        <p:txBody>
          <a:bodyPr wrap="square" lIns="0" tIns="0" rIns="0" bIns="0" rtlCol="0" anchor="ctr"/>
          <a:lstStyle/>
          <a:p>
            <a:pPr rtl="1" algn="r" indent="0" marL="0">
              <a:buNone/>
            </a:pPr>
            <a:r>
              <a:rPr lang="en-US" sz="1300" b="1" dirty="0">
                <a:solidFill>
                  <a:srgbClr val="FFFFFF"/>
                </a:solidFill>
                <a:latin typeface="Calibri" pitchFamily="34" charset="0"/>
                <a:ea typeface="Calibri" pitchFamily="34" charset="-122"/>
                <a:cs typeface="Calibri" pitchFamily="34" charset="-120"/>
              </a:rPr>
              <a:t>ה-Agent מחליט בעצמו מתי להפעיל Tool אמיתי שמאחזר מידע מהמסמך — לפני שהוא בכלל עונה.</a:t>
            </a:r>
            <a:endParaRPr lang="en-US" sz="1300" dirty="0"/>
          </a:p>
        </p:txBody>
      </p:sp>
      <p:sp>
        <p:nvSpPr>
          <p:cNvPr id="35" name="Text 25"/>
          <p:cNvSpPr txBox="1"/>
          <p:nvPr/>
        </p:nvSpPr>
        <p:spPr>
          <a:xfrm>
            <a:off x="457200" y="6510528"/>
            <a:ext cx="2743200" cy="274320"/>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ea typeface="Calibri" pitchFamily="34" charset="-122"/>
                <a:cs typeface="Calibri" pitchFamily="34" charset="-120"/>
              </a:rPr>
              <a:t>CourseMind</a:t>
            </a:r>
            <a:endParaRPr lang="en-US" sz="900" dirty="0"/>
          </a:p>
        </p:txBody>
      </p:sp>
      <p:sp>
        <p:nvSpPr>
          <p:cNvPr id="36" name="Text 26"/>
          <p:cNvSpPr txBox="1"/>
          <p:nvPr/>
        </p:nvSpPr>
        <p:spPr>
          <a:xfrm>
            <a:off x="8988552" y="6510528"/>
            <a:ext cx="2743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65760"/>
            <a:ext cx="11274552" cy="731520"/>
          </a:xfrm>
          <a:prstGeom prst="rect">
            <a:avLst/>
          </a:prstGeom>
          <a:noFill/>
          <a:ln/>
        </p:spPr>
        <p:txBody>
          <a:bodyPr wrap="square" lIns="0" tIns="0" rIns="0" bIns="0" rtlCol="0" anchor="ctr"/>
          <a:lstStyle/>
          <a:p>
            <a:pPr rtl="1" algn="r" indent="0" marL="0">
              <a:buNone/>
            </a:pPr>
            <a:r>
              <a:rPr lang="en-US" sz="3400" b="1" dirty="0">
                <a:solidFill>
                  <a:srgbClr val="1B2A4A"/>
                </a:solidFill>
                <a:latin typeface="Calibri" pitchFamily="34" charset="0"/>
                <a:ea typeface="Calibri" pitchFamily="34" charset="-122"/>
                <a:cs typeface="Calibri" pitchFamily="34" charset="-120"/>
              </a:rPr>
              <a:t>הארכיטקטורה הטכנית</a:t>
            </a:r>
            <a:endParaRPr lang="en-US" sz="3400" dirty="0"/>
          </a:p>
        </p:txBody>
      </p:sp>
      <p:sp>
        <p:nvSpPr>
          <p:cNvPr id="3" name="Text 1"/>
          <p:cNvSpPr txBox="1"/>
          <p:nvPr/>
        </p:nvSpPr>
        <p:spPr>
          <a:xfrm>
            <a:off x="731520" y="1143000"/>
            <a:ext cx="3291840" cy="320040"/>
          </a:xfrm>
          <a:prstGeom prst="rect">
            <a:avLst/>
          </a:prstGeom>
          <a:noFill/>
          <a:ln/>
        </p:spPr>
        <p:txBody>
          <a:bodyPr wrap="square" lIns="0" tIns="0" rIns="0" bIns="0" rtlCol="0" anchor="ctr"/>
          <a:lstStyle/>
          <a:p>
            <a:pPr rtl="1" algn="ctr" indent="0" marL="0">
              <a:buNone/>
            </a:pPr>
            <a:r>
              <a:rPr lang="en-US" sz="1300" b="1" dirty="0">
                <a:solidFill>
                  <a:srgbClr val="5A6472"/>
                </a:solidFill>
                <a:latin typeface="Calibri" pitchFamily="34" charset="0"/>
                <a:ea typeface="Calibri" pitchFamily="34" charset="-122"/>
                <a:cs typeface="Calibri" pitchFamily="34" charset="-120"/>
              </a:rPr>
              <a:t>עיבוד המסמך</a:t>
            </a:r>
            <a:endParaRPr lang="en-US" sz="1300" dirty="0"/>
          </a:p>
        </p:txBody>
      </p:sp>
      <p:sp>
        <p:nvSpPr>
          <p:cNvPr id="4" name="Shape 2"/>
          <p:cNvSpPr/>
          <p:nvPr/>
        </p:nvSpPr>
        <p:spPr>
          <a:xfrm>
            <a:off x="731520" y="1554480"/>
            <a:ext cx="3291840" cy="502920"/>
          </a:xfrm>
          <a:prstGeom prst="roundRect">
            <a:avLst>
              <a:gd name="adj" fmla="val 10909"/>
            </a:avLst>
          </a:prstGeom>
          <a:solidFill>
            <a:srgbClr val="1B2A4A"/>
          </a:solidFill>
          <a:ln/>
        </p:spPr>
      </p:sp>
      <p:sp>
        <p:nvSpPr>
          <p:cNvPr id="5" name="Text 3"/>
          <p:cNvSpPr txBox="1"/>
          <p:nvPr/>
        </p:nvSpPr>
        <p:spPr>
          <a:xfrm>
            <a:off x="731520" y="1554480"/>
            <a:ext cx="32918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PDF</a:t>
            </a:r>
            <a:endParaRPr lang="en-US" sz="1250" dirty="0"/>
          </a:p>
        </p:txBody>
      </p:sp>
      <p:sp>
        <p:nvSpPr>
          <p:cNvPr id="6" name="Text 4"/>
          <p:cNvSpPr txBox="1"/>
          <p:nvPr/>
        </p:nvSpPr>
        <p:spPr>
          <a:xfrm>
            <a:off x="731520" y="2029968"/>
            <a:ext cx="3291840" cy="219456"/>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731520" y="2221992"/>
            <a:ext cx="3291840" cy="502920"/>
          </a:xfrm>
          <a:prstGeom prst="roundRect">
            <a:avLst>
              <a:gd name="adj" fmla="val 10909"/>
            </a:avLst>
          </a:prstGeom>
          <a:solidFill>
            <a:srgbClr val="1B2A4A"/>
          </a:solidFill>
          <a:ln/>
        </p:spPr>
      </p:sp>
      <p:sp>
        <p:nvSpPr>
          <p:cNvPr id="8" name="Text 6"/>
          <p:cNvSpPr txBox="1"/>
          <p:nvPr/>
        </p:nvSpPr>
        <p:spPr>
          <a:xfrm>
            <a:off x="731520" y="2221992"/>
            <a:ext cx="32918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Extraction</a:t>
            </a:r>
            <a:endParaRPr lang="en-US" sz="1250" dirty="0"/>
          </a:p>
        </p:txBody>
      </p:sp>
      <p:sp>
        <p:nvSpPr>
          <p:cNvPr id="9" name="Text 7"/>
          <p:cNvSpPr txBox="1"/>
          <p:nvPr/>
        </p:nvSpPr>
        <p:spPr>
          <a:xfrm>
            <a:off x="731520" y="2697480"/>
            <a:ext cx="3291840" cy="219456"/>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731520" y="2889504"/>
            <a:ext cx="3291840" cy="502920"/>
          </a:xfrm>
          <a:prstGeom prst="roundRect">
            <a:avLst>
              <a:gd name="adj" fmla="val 10909"/>
            </a:avLst>
          </a:prstGeom>
          <a:solidFill>
            <a:srgbClr val="1B2A4A"/>
          </a:solidFill>
          <a:ln/>
        </p:spPr>
      </p:sp>
      <p:sp>
        <p:nvSpPr>
          <p:cNvPr id="11" name="Text 9"/>
          <p:cNvSpPr txBox="1"/>
          <p:nvPr/>
        </p:nvSpPr>
        <p:spPr>
          <a:xfrm>
            <a:off x="731520" y="2889504"/>
            <a:ext cx="32918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Chunks</a:t>
            </a:r>
            <a:endParaRPr lang="en-US" sz="1250" dirty="0"/>
          </a:p>
        </p:txBody>
      </p:sp>
      <p:sp>
        <p:nvSpPr>
          <p:cNvPr id="12" name="Text 10"/>
          <p:cNvSpPr txBox="1"/>
          <p:nvPr/>
        </p:nvSpPr>
        <p:spPr>
          <a:xfrm>
            <a:off x="731520" y="3364992"/>
            <a:ext cx="3291840" cy="219456"/>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731520" y="3557016"/>
            <a:ext cx="3291840" cy="502920"/>
          </a:xfrm>
          <a:prstGeom prst="roundRect">
            <a:avLst>
              <a:gd name="adj" fmla="val 10909"/>
            </a:avLst>
          </a:prstGeom>
          <a:solidFill>
            <a:srgbClr val="1B2A4A"/>
          </a:solidFill>
          <a:ln/>
        </p:spPr>
      </p:sp>
      <p:sp>
        <p:nvSpPr>
          <p:cNvPr id="14" name="Text 12"/>
          <p:cNvSpPr txBox="1"/>
          <p:nvPr/>
        </p:nvSpPr>
        <p:spPr>
          <a:xfrm>
            <a:off x="731520" y="3557016"/>
            <a:ext cx="32918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Embeddings</a:t>
            </a:r>
            <a:endParaRPr lang="en-US" sz="1250" dirty="0"/>
          </a:p>
        </p:txBody>
      </p:sp>
      <p:sp>
        <p:nvSpPr>
          <p:cNvPr id="15" name="Text 13"/>
          <p:cNvSpPr txBox="1"/>
          <p:nvPr/>
        </p:nvSpPr>
        <p:spPr>
          <a:xfrm>
            <a:off x="731520" y="4032504"/>
            <a:ext cx="3291840" cy="219456"/>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31520" y="4224528"/>
            <a:ext cx="3291840" cy="502920"/>
          </a:xfrm>
          <a:prstGeom prst="roundRect">
            <a:avLst>
              <a:gd name="adj" fmla="val 10909"/>
            </a:avLst>
          </a:prstGeom>
          <a:solidFill>
            <a:srgbClr val="D9A441"/>
          </a:solidFill>
          <a:ln/>
        </p:spPr>
      </p:sp>
      <p:sp>
        <p:nvSpPr>
          <p:cNvPr id="17" name="Text 15"/>
          <p:cNvSpPr txBox="1"/>
          <p:nvPr/>
        </p:nvSpPr>
        <p:spPr>
          <a:xfrm>
            <a:off x="731520" y="4224528"/>
            <a:ext cx="3291840" cy="502920"/>
          </a:xfrm>
          <a:prstGeom prst="rect">
            <a:avLst/>
          </a:prstGeom>
          <a:noFill/>
          <a:ln/>
        </p:spPr>
        <p:txBody>
          <a:bodyPr wrap="square" lIns="0" tIns="0" rIns="0" bIns="0"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ChromaDB</a:t>
            </a:r>
            <a:endParaRPr lang="en-US" sz="1250" dirty="0"/>
          </a:p>
        </p:txBody>
      </p:sp>
      <p:sp>
        <p:nvSpPr>
          <p:cNvPr id="18" name="Text 16"/>
          <p:cNvSpPr txBox="1"/>
          <p:nvPr/>
        </p:nvSpPr>
        <p:spPr>
          <a:xfrm>
            <a:off x="7251192" y="1143000"/>
            <a:ext cx="4206240" cy="320040"/>
          </a:xfrm>
          <a:prstGeom prst="rect">
            <a:avLst/>
          </a:prstGeom>
          <a:noFill/>
          <a:ln/>
        </p:spPr>
        <p:txBody>
          <a:bodyPr wrap="square" lIns="0" tIns="0" rIns="0" bIns="0" rtlCol="0" anchor="ctr"/>
          <a:lstStyle/>
          <a:p>
            <a:pPr rtl="1" algn="ctr" indent="0" marL="0">
              <a:buNone/>
            </a:pPr>
            <a:r>
              <a:rPr lang="en-US" sz="1300" b="1" dirty="0">
                <a:solidFill>
                  <a:srgbClr val="5A6472"/>
                </a:solidFill>
                <a:latin typeface="Calibri" pitchFamily="34" charset="0"/>
                <a:ea typeface="Calibri" pitchFamily="34" charset="-122"/>
                <a:cs typeface="Calibri" pitchFamily="34" charset="-120"/>
              </a:rPr>
              <a:t>זרימת שאלה ותשובה</a:t>
            </a:r>
            <a:endParaRPr lang="en-US" sz="1300" dirty="0"/>
          </a:p>
        </p:txBody>
      </p:sp>
      <p:sp>
        <p:nvSpPr>
          <p:cNvPr id="19" name="Shape 17"/>
          <p:cNvSpPr/>
          <p:nvPr/>
        </p:nvSpPr>
        <p:spPr>
          <a:xfrm>
            <a:off x="7251192" y="1554480"/>
            <a:ext cx="4206240" cy="457200"/>
          </a:xfrm>
          <a:prstGeom prst="roundRect">
            <a:avLst>
              <a:gd name="adj" fmla="val 12000"/>
            </a:avLst>
          </a:prstGeom>
          <a:solidFill>
            <a:srgbClr val="1B2A4A"/>
          </a:solidFill>
          <a:ln/>
        </p:spPr>
      </p:sp>
      <p:sp>
        <p:nvSpPr>
          <p:cNvPr id="20" name="Text 18"/>
          <p:cNvSpPr txBox="1"/>
          <p:nvPr/>
        </p:nvSpPr>
        <p:spPr>
          <a:xfrm>
            <a:off x="7251192" y="1554480"/>
            <a:ext cx="42062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Student</a:t>
            </a:r>
            <a:endParaRPr lang="en-US" sz="1250" dirty="0"/>
          </a:p>
        </p:txBody>
      </p:sp>
      <p:sp>
        <p:nvSpPr>
          <p:cNvPr id="21" name="Text 19"/>
          <p:cNvSpPr txBox="1"/>
          <p:nvPr/>
        </p:nvSpPr>
        <p:spPr>
          <a:xfrm>
            <a:off x="7251192" y="1984248"/>
            <a:ext cx="4206240" cy="146304"/>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251192" y="2103120"/>
            <a:ext cx="4206240" cy="457200"/>
          </a:xfrm>
          <a:prstGeom prst="roundRect">
            <a:avLst>
              <a:gd name="adj" fmla="val 12000"/>
            </a:avLst>
          </a:prstGeom>
          <a:solidFill>
            <a:srgbClr val="1B2A4A"/>
          </a:solidFill>
          <a:ln/>
        </p:spPr>
      </p:sp>
      <p:sp>
        <p:nvSpPr>
          <p:cNvPr id="23" name="Text 21"/>
          <p:cNvSpPr txBox="1"/>
          <p:nvPr/>
        </p:nvSpPr>
        <p:spPr>
          <a:xfrm>
            <a:off x="7251192" y="2103120"/>
            <a:ext cx="42062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Streamlit</a:t>
            </a:r>
            <a:endParaRPr lang="en-US" sz="1250" dirty="0"/>
          </a:p>
        </p:txBody>
      </p:sp>
      <p:sp>
        <p:nvSpPr>
          <p:cNvPr id="24" name="Text 22"/>
          <p:cNvSpPr txBox="1"/>
          <p:nvPr/>
        </p:nvSpPr>
        <p:spPr>
          <a:xfrm>
            <a:off x="7251192" y="2532888"/>
            <a:ext cx="4206240" cy="146304"/>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51192" y="2651760"/>
            <a:ext cx="4206240" cy="457200"/>
          </a:xfrm>
          <a:prstGeom prst="roundRect">
            <a:avLst>
              <a:gd name="adj" fmla="val 12000"/>
            </a:avLst>
          </a:prstGeom>
          <a:solidFill>
            <a:srgbClr val="1B2A4A"/>
          </a:solidFill>
          <a:ln/>
        </p:spPr>
      </p:sp>
      <p:sp>
        <p:nvSpPr>
          <p:cNvPr id="26" name="Text 24"/>
          <p:cNvSpPr txBox="1"/>
          <p:nvPr/>
        </p:nvSpPr>
        <p:spPr>
          <a:xfrm>
            <a:off x="7251192" y="2651760"/>
            <a:ext cx="42062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Q&amp;A Service</a:t>
            </a:r>
            <a:endParaRPr lang="en-US" sz="1250" dirty="0"/>
          </a:p>
        </p:txBody>
      </p:sp>
      <p:sp>
        <p:nvSpPr>
          <p:cNvPr id="27" name="Text 25"/>
          <p:cNvSpPr txBox="1"/>
          <p:nvPr/>
        </p:nvSpPr>
        <p:spPr>
          <a:xfrm>
            <a:off x="7251192" y="3081528"/>
            <a:ext cx="4206240" cy="146304"/>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7251192" y="3200400"/>
            <a:ext cx="4206240" cy="457200"/>
          </a:xfrm>
          <a:prstGeom prst="roundRect">
            <a:avLst>
              <a:gd name="adj" fmla="val 12000"/>
            </a:avLst>
          </a:prstGeom>
          <a:solidFill>
            <a:srgbClr val="1B2A4A"/>
          </a:solidFill>
          <a:ln/>
        </p:spPr>
      </p:sp>
      <p:sp>
        <p:nvSpPr>
          <p:cNvPr id="29" name="Text 27"/>
          <p:cNvSpPr txBox="1"/>
          <p:nvPr/>
        </p:nvSpPr>
        <p:spPr>
          <a:xfrm>
            <a:off x="7251192" y="3200400"/>
            <a:ext cx="42062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CrewAI Agent</a:t>
            </a:r>
            <a:endParaRPr lang="en-US" sz="1250" dirty="0"/>
          </a:p>
        </p:txBody>
      </p:sp>
      <p:sp>
        <p:nvSpPr>
          <p:cNvPr id="30" name="Text 28"/>
          <p:cNvSpPr txBox="1"/>
          <p:nvPr/>
        </p:nvSpPr>
        <p:spPr>
          <a:xfrm>
            <a:off x="7251192" y="3630168"/>
            <a:ext cx="4206240" cy="146304"/>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7251192" y="3749040"/>
            <a:ext cx="4206240" cy="457200"/>
          </a:xfrm>
          <a:prstGeom prst="roundRect">
            <a:avLst>
              <a:gd name="adj" fmla="val 12000"/>
            </a:avLst>
          </a:prstGeom>
          <a:solidFill>
            <a:srgbClr val="1B2A4A"/>
          </a:solidFill>
          <a:ln/>
        </p:spPr>
      </p:sp>
      <p:sp>
        <p:nvSpPr>
          <p:cNvPr id="32" name="Text 30"/>
          <p:cNvSpPr txBox="1"/>
          <p:nvPr/>
        </p:nvSpPr>
        <p:spPr>
          <a:xfrm>
            <a:off x="7251192" y="3749040"/>
            <a:ext cx="42062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RAG Tool</a:t>
            </a:r>
            <a:endParaRPr lang="en-US" sz="1250" dirty="0"/>
          </a:p>
        </p:txBody>
      </p:sp>
      <p:sp>
        <p:nvSpPr>
          <p:cNvPr id="33" name="Text 31"/>
          <p:cNvSpPr txBox="1"/>
          <p:nvPr/>
        </p:nvSpPr>
        <p:spPr>
          <a:xfrm>
            <a:off x="7251192" y="4178808"/>
            <a:ext cx="4206240" cy="146304"/>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34" name="Shape 32"/>
          <p:cNvSpPr/>
          <p:nvPr/>
        </p:nvSpPr>
        <p:spPr>
          <a:xfrm>
            <a:off x="7251192" y="4297680"/>
            <a:ext cx="4206240" cy="457200"/>
          </a:xfrm>
          <a:prstGeom prst="roundRect">
            <a:avLst>
              <a:gd name="adj" fmla="val 12000"/>
            </a:avLst>
          </a:prstGeom>
          <a:solidFill>
            <a:srgbClr val="1B2A4A"/>
          </a:solidFill>
          <a:ln/>
        </p:spPr>
      </p:sp>
      <p:sp>
        <p:nvSpPr>
          <p:cNvPr id="35" name="Text 33"/>
          <p:cNvSpPr txBox="1"/>
          <p:nvPr/>
        </p:nvSpPr>
        <p:spPr>
          <a:xfrm>
            <a:off x="7251192" y="4297680"/>
            <a:ext cx="42062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OpenAI Embeddings</a:t>
            </a:r>
            <a:endParaRPr lang="en-US" sz="1250" dirty="0"/>
          </a:p>
        </p:txBody>
      </p:sp>
      <p:sp>
        <p:nvSpPr>
          <p:cNvPr id="36" name="Text 34"/>
          <p:cNvSpPr txBox="1"/>
          <p:nvPr/>
        </p:nvSpPr>
        <p:spPr>
          <a:xfrm>
            <a:off x="7251192" y="4727448"/>
            <a:ext cx="4206240" cy="146304"/>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37" name="Shape 35"/>
          <p:cNvSpPr/>
          <p:nvPr/>
        </p:nvSpPr>
        <p:spPr>
          <a:xfrm>
            <a:off x="7251192" y="4846320"/>
            <a:ext cx="4206240" cy="457200"/>
          </a:xfrm>
          <a:prstGeom prst="roundRect">
            <a:avLst>
              <a:gd name="adj" fmla="val 12000"/>
            </a:avLst>
          </a:prstGeom>
          <a:solidFill>
            <a:srgbClr val="1B2A4A"/>
          </a:solidFill>
          <a:ln/>
        </p:spPr>
      </p:sp>
      <p:sp>
        <p:nvSpPr>
          <p:cNvPr id="38" name="Text 36"/>
          <p:cNvSpPr txBox="1"/>
          <p:nvPr/>
        </p:nvSpPr>
        <p:spPr>
          <a:xfrm>
            <a:off x="7251192" y="4846320"/>
            <a:ext cx="42062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ChromaDB</a:t>
            </a:r>
            <a:endParaRPr lang="en-US" sz="1250" dirty="0"/>
          </a:p>
        </p:txBody>
      </p:sp>
      <p:sp>
        <p:nvSpPr>
          <p:cNvPr id="39" name="Text 37"/>
          <p:cNvSpPr txBox="1"/>
          <p:nvPr/>
        </p:nvSpPr>
        <p:spPr>
          <a:xfrm>
            <a:off x="7251192" y="5276088"/>
            <a:ext cx="4206240" cy="146304"/>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40" name="Shape 38"/>
          <p:cNvSpPr/>
          <p:nvPr/>
        </p:nvSpPr>
        <p:spPr>
          <a:xfrm>
            <a:off x="7251192" y="5394960"/>
            <a:ext cx="4206240" cy="457200"/>
          </a:xfrm>
          <a:prstGeom prst="roundRect">
            <a:avLst>
              <a:gd name="adj" fmla="val 12000"/>
            </a:avLst>
          </a:prstGeom>
          <a:solidFill>
            <a:srgbClr val="D9A441"/>
          </a:solidFill>
          <a:ln/>
        </p:spPr>
      </p:sp>
      <p:sp>
        <p:nvSpPr>
          <p:cNvPr id="41" name="Text 39"/>
          <p:cNvSpPr txBox="1"/>
          <p:nvPr/>
        </p:nvSpPr>
        <p:spPr>
          <a:xfrm>
            <a:off x="7251192" y="5394960"/>
            <a:ext cx="4206240" cy="457200"/>
          </a:xfrm>
          <a:prstGeom prst="rect">
            <a:avLst/>
          </a:prstGeom>
          <a:noFill/>
          <a:ln/>
        </p:spPr>
        <p:txBody>
          <a:bodyPr wrap="square" lIns="0" tIns="0" rIns="0" bIns="0"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Grounded Answer + Sources</a:t>
            </a:r>
            <a:endParaRPr lang="en-US" sz="1250" dirty="0"/>
          </a:p>
        </p:txBody>
      </p:sp>
      <p:sp>
        <p:nvSpPr>
          <p:cNvPr id="43" name="Text 40"/>
          <p:cNvSpPr txBox="1"/>
          <p:nvPr/>
        </p:nvSpPr>
        <p:spPr>
          <a:xfrm>
            <a:off x="457200" y="6510528"/>
            <a:ext cx="2743200" cy="274320"/>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ea typeface="Calibri" pitchFamily="34" charset="-122"/>
                <a:cs typeface="Calibri" pitchFamily="34" charset="-120"/>
              </a:rPr>
              <a:t>CourseMind</a:t>
            </a:r>
            <a:endParaRPr lang="en-US" sz="900" dirty="0"/>
          </a:p>
        </p:txBody>
      </p:sp>
      <p:sp>
        <p:nvSpPr>
          <p:cNvPr id="44" name="Text 41"/>
          <p:cNvSpPr txBox="1"/>
          <p:nvPr/>
        </p:nvSpPr>
        <p:spPr>
          <a:xfrm>
            <a:off x="8988552" y="6510528"/>
            <a:ext cx="2743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65760"/>
            <a:ext cx="11274552" cy="731520"/>
          </a:xfrm>
          <a:prstGeom prst="rect">
            <a:avLst/>
          </a:prstGeom>
          <a:noFill/>
          <a:ln/>
        </p:spPr>
        <p:txBody>
          <a:bodyPr wrap="square" lIns="0" tIns="0" rIns="0" bIns="0" rtlCol="0" anchor="ctr"/>
          <a:lstStyle/>
          <a:p>
            <a:pPr rtl="1" algn="r" indent="0" marL="0">
              <a:buNone/>
            </a:pPr>
            <a:r>
              <a:rPr lang="en-US" sz="3000" b="1" dirty="0">
                <a:solidFill>
                  <a:srgbClr val="1B2A4A"/>
                </a:solidFill>
                <a:latin typeface="Calibri" pitchFamily="34" charset="0"/>
                <a:ea typeface="Calibri" pitchFamily="34" charset="-122"/>
                <a:cs typeface="Calibri" pitchFamily="34" charset="-120"/>
              </a:rPr>
              <a:t>Grounding + Source Tracking</a:t>
            </a:r>
            <a:endParaRPr lang="en-US" sz="3000" dirty="0"/>
          </a:p>
        </p:txBody>
      </p:sp>
      <p:sp>
        <p:nvSpPr>
          <p:cNvPr id="3" name="Shape 1"/>
          <p:cNvSpPr/>
          <p:nvPr/>
        </p:nvSpPr>
        <p:spPr>
          <a:xfrm>
            <a:off x="457200" y="1371600"/>
            <a:ext cx="5454396" cy="3291840"/>
          </a:xfrm>
          <a:prstGeom prst="roundRect">
            <a:avLst>
              <a:gd name="adj" fmla="val 2500"/>
            </a:avLst>
          </a:prstGeom>
          <a:solidFill>
            <a:srgbClr val="E9F3EE"/>
          </a:solidFill>
          <a:ln/>
          <a:effectLst>
            <a:outerShdw sx="100000" sy="100000" kx="0" ky="0" algn="bl" rotWithShape="0" blurRad="101600" dist="25400" dir="5400000">
              <a:srgbClr val="1B2A4A">
                <a:alpha val="12000"/>
              </a:srgbClr>
            </a:outerShdw>
          </a:effectLst>
        </p:spPr>
      </p:sp>
      <p:pic>
        <p:nvPicPr>
          <p:cNvPr id="4" name="Image 0" descr="check icon">    </p:cNvPr>
          <p:cNvPicPr>
            <a:picLocks noChangeAspect="1"/>
          </p:cNvPicPr>
          <p:nvPr/>
        </p:nvPicPr>
        <p:blipFill>
          <a:blip r:embed="rId1"/>
          <a:stretch>
            <a:fillRect/>
          </a:stretch>
        </p:blipFill>
        <p:spPr>
          <a:xfrm>
            <a:off x="2928366" y="1600200"/>
            <a:ext cx="512064" cy="512064"/>
          </a:xfrm>
          <a:prstGeom prst="rect">
            <a:avLst/>
          </a:prstGeom>
        </p:spPr>
      </p:pic>
      <p:sp>
        <p:nvSpPr>
          <p:cNvPr id="5" name="Text 2"/>
          <p:cNvSpPr txBox="1"/>
          <p:nvPr/>
        </p:nvSpPr>
        <p:spPr>
          <a:xfrm>
            <a:off x="640080" y="2240280"/>
            <a:ext cx="5088636" cy="320040"/>
          </a:xfrm>
          <a:prstGeom prst="rect">
            <a:avLst/>
          </a:prstGeom>
          <a:noFill/>
          <a:ln/>
        </p:spPr>
        <p:txBody>
          <a:bodyPr wrap="square" lIns="0" tIns="0" rIns="0" bIns="0" rtlCol="0" anchor="ctr"/>
          <a:lstStyle/>
          <a:p>
            <a:pPr rtl="1" algn="ctr" indent="0" marL="0">
              <a:buNone/>
            </a:pPr>
            <a:r>
              <a:rPr lang="en-US" sz="1300" b="1" dirty="0">
                <a:solidFill>
                  <a:srgbClr val="2E7D5B"/>
                </a:solidFill>
                <a:latin typeface="Calibri" pitchFamily="34" charset="0"/>
                <a:ea typeface="Calibri" pitchFamily="34" charset="-122"/>
                <a:cs typeface="Calibri" pitchFamily="34" charset="-120"/>
              </a:rPr>
              <a:t>שאלה מתוך החומר</a:t>
            </a:r>
            <a:endParaRPr lang="en-US" sz="1300" dirty="0"/>
          </a:p>
        </p:txBody>
      </p:sp>
      <p:sp>
        <p:nvSpPr>
          <p:cNvPr id="6" name="Text 3"/>
          <p:cNvSpPr txBox="1"/>
          <p:nvPr/>
        </p:nvSpPr>
        <p:spPr>
          <a:xfrm>
            <a:off x="640080" y="2606040"/>
            <a:ext cx="5088636" cy="457200"/>
          </a:xfrm>
          <a:prstGeom prst="rect">
            <a:avLst/>
          </a:prstGeom>
          <a:noFill/>
          <a:ln/>
        </p:spPr>
        <p:txBody>
          <a:bodyPr wrap="square" lIns="0" tIns="0" rIns="0" bIns="0" rtlCol="0" anchor="ctr"/>
          <a:lstStyle/>
          <a:p>
            <a:pPr rtl="1" algn="ctr" indent="0" marL="0">
              <a:buNone/>
            </a:pPr>
            <a:r>
              <a:rPr lang="en-US" sz="1500" b="1" dirty="0">
                <a:solidFill>
                  <a:srgbClr val="1B2A4A"/>
                </a:solidFill>
                <a:latin typeface="Calibri" pitchFamily="34" charset="0"/>
                <a:ea typeface="Calibri" pitchFamily="34" charset="-122"/>
                <a:cs typeface="Calibri" pitchFamily="34" charset="-120"/>
              </a:rPr>
              <a:t>"מה זה משתנה בשפת JavaScript?"</a:t>
            </a:r>
            <a:endParaRPr lang="en-US" sz="1500" dirty="0"/>
          </a:p>
        </p:txBody>
      </p:sp>
      <p:sp>
        <p:nvSpPr>
          <p:cNvPr id="7" name="Text 4"/>
          <p:cNvSpPr txBox="1"/>
          <p:nvPr/>
        </p:nvSpPr>
        <p:spPr>
          <a:xfrm>
            <a:off x="640080" y="3200400"/>
            <a:ext cx="5088636" cy="320040"/>
          </a:xfrm>
          <a:prstGeom prst="rect">
            <a:avLst/>
          </a:prstGeom>
          <a:noFill/>
          <a:ln/>
        </p:spPr>
        <p:txBody>
          <a:bodyPr wrap="square" lIns="0" tIns="0" rIns="0" bIns="0" rtlCol="0" anchor="ctr"/>
          <a:lstStyle/>
          <a:p>
            <a:pPr rtl="1" algn="ctr" indent="0" marL="0">
              <a:buNone/>
            </a:pPr>
            <a:r>
              <a:rPr lang="en-US" sz="1200" dirty="0">
                <a:solidFill>
                  <a:srgbClr val="5A6472"/>
                </a:solidFill>
                <a:latin typeface="Calibri" pitchFamily="34" charset="0"/>
                <a:ea typeface="Calibri" pitchFamily="34" charset="-122"/>
                <a:cs typeface="Calibri" pitchFamily="34" charset="-120"/>
              </a:rPr>
              <a:t>תשובה מבוססת + Sources</a:t>
            </a:r>
            <a:endParaRPr lang="en-US" sz="1200" dirty="0"/>
          </a:p>
        </p:txBody>
      </p:sp>
      <p:sp>
        <p:nvSpPr>
          <p:cNvPr id="8" name="Text 5"/>
          <p:cNvSpPr txBox="1"/>
          <p:nvPr/>
        </p:nvSpPr>
        <p:spPr>
          <a:xfrm>
            <a:off x="640080" y="3566160"/>
            <a:ext cx="5088636" cy="365760"/>
          </a:xfrm>
          <a:prstGeom prst="rect">
            <a:avLst/>
          </a:prstGeom>
          <a:noFill/>
          <a:ln/>
        </p:spPr>
        <p:txBody>
          <a:bodyPr wrap="square" lIns="0" tIns="0" rIns="0" bIns="0" rtlCol="0" anchor="ctr"/>
          <a:lstStyle/>
          <a:p>
            <a:pPr rtl="1" algn="ctr" indent="0" marL="0">
              <a:buNone/>
            </a:pPr>
            <a:r>
              <a:rPr lang="en-US" sz="1100" b="1" dirty="0">
                <a:solidFill>
                  <a:srgbClr val="2E7D5B"/>
                </a:solidFill>
                <a:latin typeface="Calibri" pitchFamily="34" charset="0"/>
                <a:ea typeface="Calibri" pitchFamily="34" charset="-122"/>
                <a:cs typeface="Calibri" pitchFamily="34" charset="-120"/>
              </a:rPr>
              <a:t>JavaScript_חלק_א_מדריך_לימוד.pdf — עמוד 5</a:t>
            </a:r>
            <a:endParaRPr lang="en-US" sz="1100" dirty="0"/>
          </a:p>
        </p:txBody>
      </p:sp>
      <p:sp>
        <p:nvSpPr>
          <p:cNvPr id="9" name="Shape 6"/>
          <p:cNvSpPr/>
          <p:nvPr/>
        </p:nvSpPr>
        <p:spPr>
          <a:xfrm>
            <a:off x="6277356" y="1371600"/>
            <a:ext cx="5454396" cy="3291840"/>
          </a:xfrm>
          <a:prstGeom prst="roundRect">
            <a:avLst>
              <a:gd name="adj" fmla="val 2500"/>
            </a:avLst>
          </a:prstGeom>
          <a:solidFill>
            <a:srgbClr val="EFF1F3"/>
          </a:solidFill>
          <a:ln/>
          <a:effectLst>
            <a:outerShdw sx="100000" sy="100000" kx="0" ky="0" algn="bl" rotWithShape="0" blurRad="101600" dist="25400" dir="5400000">
              <a:srgbClr val="1B2A4A">
                <a:alpha val="12000"/>
              </a:srgbClr>
            </a:outerShdw>
          </a:effectLst>
        </p:spPr>
      </p:sp>
      <p:pic>
        <p:nvPicPr>
          <p:cNvPr id="10" name="Image 1" descr="ban icon">    </p:cNvPr>
          <p:cNvPicPr>
            <a:picLocks noChangeAspect="1"/>
          </p:cNvPicPr>
          <p:nvPr/>
        </p:nvPicPr>
        <p:blipFill>
          <a:blip r:embed="rId2"/>
          <a:stretch>
            <a:fillRect/>
          </a:stretch>
        </p:blipFill>
        <p:spPr>
          <a:xfrm>
            <a:off x="8748522" y="1600200"/>
            <a:ext cx="512064" cy="512064"/>
          </a:xfrm>
          <a:prstGeom prst="rect">
            <a:avLst/>
          </a:prstGeom>
        </p:spPr>
      </p:pic>
      <p:sp>
        <p:nvSpPr>
          <p:cNvPr id="11" name="Text 7"/>
          <p:cNvSpPr txBox="1"/>
          <p:nvPr/>
        </p:nvSpPr>
        <p:spPr>
          <a:xfrm>
            <a:off x="6460236" y="2240280"/>
            <a:ext cx="5088636" cy="320040"/>
          </a:xfrm>
          <a:prstGeom prst="rect">
            <a:avLst/>
          </a:prstGeom>
          <a:noFill/>
          <a:ln/>
        </p:spPr>
        <p:txBody>
          <a:bodyPr wrap="square" lIns="0" tIns="0" rIns="0" bIns="0" rtlCol="0" anchor="ctr"/>
          <a:lstStyle/>
          <a:p>
            <a:pPr rtl="1" algn="ctr" indent="0" marL="0">
              <a:buNone/>
            </a:pPr>
            <a:r>
              <a:rPr lang="en-US" sz="1300" b="1" dirty="0">
                <a:solidFill>
                  <a:srgbClr val="4A5560"/>
                </a:solidFill>
                <a:latin typeface="Calibri" pitchFamily="34" charset="0"/>
                <a:ea typeface="Calibri" pitchFamily="34" charset="-122"/>
                <a:cs typeface="Calibri" pitchFamily="34" charset="-120"/>
              </a:rPr>
              <a:t>שאלה שאינה קיימת בחומר</a:t>
            </a:r>
            <a:endParaRPr lang="en-US" sz="1300" dirty="0"/>
          </a:p>
        </p:txBody>
      </p:sp>
      <p:sp>
        <p:nvSpPr>
          <p:cNvPr id="12" name="Text 8"/>
          <p:cNvSpPr txBox="1"/>
          <p:nvPr/>
        </p:nvSpPr>
        <p:spPr>
          <a:xfrm>
            <a:off x="6460236" y="2606040"/>
            <a:ext cx="5088636" cy="457200"/>
          </a:xfrm>
          <a:prstGeom prst="rect">
            <a:avLst/>
          </a:prstGeom>
          <a:noFill/>
          <a:ln/>
        </p:spPr>
        <p:txBody>
          <a:bodyPr wrap="square" lIns="0" tIns="0" rIns="0" bIns="0" rtlCol="0" anchor="ctr"/>
          <a:lstStyle/>
          <a:p>
            <a:pPr rtl="1" algn="ctr" indent="0" marL="0">
              <a:buNone/>
            </a:pPr>
            <a:r>
              <a:rPr lang="en-US" sz="1500" b="1" dirty="0">
                <a:solidFill>
                  <a:srgbClr val="1B2A4A"/>
                </a:solidFill>
                <a:latin typeface="Calibri" pitchFamily="34" charset="0"/>
                <a:ea typeface="Calibri" pitchFamily="34" charset="-122"/>
                <a:cs typeface="Calibri" pitchFamily="34" charset="-120"/>
              </a:rPr>
              <a:t>"מה המתכון הכי טוב לעוגת שוקולד?"</a:t>
            </a:r>
            <a:endParaRPr lang="en-US" sz="1500" dirty="0"/>
          </a:p>
        </p:txBody>
      </p:sp>
      <p:sp>
        <p:nvSpPr>
          <p:cNvPr id="13" name="Text 9"/>
          <p:cNvSpPr txBox="1"/>
          <p:nvPr/>
        </p:nvSpPr>
        <p:spPr>
          <a:xfrm>
            <a:off x="6460236" y="3337560"/>
            <a:ext cx="5088636" cy="640080"/>
          </a:xfrm>
          <a:prstGeom prst="rect">
            <a:avLst/>
          </a:prstGeom>
          <a:noFill/>
          <a:ln/>
        </p:spPr>
        <p:txBody>
          <a:bodyPr wrap="square" lIns="0" tIns="0" rIns="0" bIns="0" rtlCol="0" anchor="ctr"/>
          <a:lstStyle/>
          <a:p>
            <a:pPr rtl="1" algn="ctr" indent="0" marL="0">
              <a:buNone/>
            </a:pPr>
            <a:r>
              <a:rPr lang="en-US" sz="1300" b="1" dirty="0">
                <a:solidFill>
                  <a:srgbClr val="4A5560"/>
                </a:solidFill>
                <a:latin typeface="Calibri" pitchFamily="34" charset="0"/>
                <a:ea typeface="Calibri" pitchFamily="34" charset="-122"/>
                <a:cs typeface="Calibri" pitchFamily="34" charset="-120"/>
              </a:rPr>
              <a:t>"המידע לא נמצא בחומר הלימוד שהועלה."</a:t>
            </a:r>
            <a:endParaRPr lang="en-US" sz="1300" dirty="0"/>
          </a:p>
        </p:txBody>
      </p:sp>
      <p:sp>
        <p:nvSpPr>
          <p:cNvPr id="14" name="Text 10"/>
          <p:cNvSpPr txBox="1"/>
          <p:nvPr/>
        </p:nvSpPr>
        <p:spPr>
          <a:xfrm>
            <a:off x="457200" y="4892040"/>
            <a:ext cx="11274552" cy="457200"/>
          </a:xfrm>
          <a:prstGeom prst="rect">
            <a:avLst/>
          </a:prstGeom>
          <a:noFill/>
          <a:ln/>
        </p:spPr>
        <p:txBody>
          <a:bodyPr wrap="square" lIns="0" tIns="0" rIns="0" bIns="0" rtlCol="0" anchor="ctr"/>
          <a:lstStyle/>
          <a:p>
            <a:pPr rtl="1" algn="ctr" indent="0" marL="0">
              <a:buNone/>
            </a:pPr>
            <a:r>
              <a:rPr lang="en-US" sz="1400" b="1" dirty="0">
                <a:solidFill>
                  <a:srgbClr val="1B2A4A"/>
                </a:solidFill>
                <a:latin typeface="Calibri" pitchFamily="34" charset="0"/>
                <a:ea typeface="Calibri" pitchFamily="34" charset="-122"/>
                <a:cs typeface="Calibri" pitchFamily="34" charset="-120"/>
              </a:rPr>
              <a:t>הגישה הזו מפחיתה את הסיכון ל-Hallucinations.</a:t>
            </a:r>
            <a:endParaRPr lang="en-US" sz="1400" dirty="0"/>
          </a:p>
        </p:txBody>
      </p:sp>
      <p:sp>
        <p:nvSpPr>
          <p:cNvPr id="16" name="Text 11"/>
          <p:cNvSpPr txBox="1"/>
          <p:nvPr/>
        </p:nvSpPr>
        <p:spPr>
          <a:xfrm>
            <a:off x="457200" y="6510528"/>
            <a:ext cx="2743200" cy="274320"/>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ea typeface="Calibri" pitchFamily="34" charset="-122"/>
                <a:cs typeface="Calibri" pitchFamily="34" charset="-120"/>
              </a:rPr>
              <a:t>CourseMind</a:t>
            </a:r>
            <a:endParaRPr lang="en-US" sz="900" dirty="0"/>
          </a:p>
        </p:txBody>
      </p:sp>
      <p:sp>
        <p:nvSpPr>
          <p:cNvPr id="17" name="Text 12"/>
          <p:cNvSpPr txBox="1"/>
          <p:nvPr/>
        </p:nvSpPr>
        <p:spPr>
          <a:xfrm>
            <a:off x="8988552" y="6510528"/>
            <a:ext cx="2743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65760"/>
            <a:ext cx="11274552" cy="731520"/>
          </a:xfrm>
          <a:prstGeom prst="rect">
            <a:avLst/>
          </a:prstGeom>
          <a:noFill/>
          <a:ln/>
        </p:spPr>
        <p:txBody>
          <a:bodyPr wrap="square" lIns="0" tIns="0" rIns="0" bIns="0" rtlCol="0" anchor="ctr"/>
          <a:lstStyle/>
          <a:p>
            <a:pPr rtl="1" algn="r" indent="0" marL="0">
              <a:buNone/>
            </a:pPr>
            <a:r>
              <a:rPr lang="en-US" sz="3400" b="1" dirty="0">
                <a:solidFill>
                  <a:srgbClr val="1B2A4A"/>
                </a:solidFill>
                <a:latin typeface="Calibri" pitchFamily="34" charset="0"/>
                <a:ea typeface="Calibri" pitchFamily="34" charset="-122"/>
                <a:cs typeface="Calibri" pitchFamily="34" charset="-120"/>
              </a:rPr>
              <a:t>סיכום מלא של המסמך</a:t>
            </a:r>
            <a:endParaRPr lang="en-US" sz="3400" dirty="0"/>
          </a:p>
        </p:txBody>
      </p:sp>
      <p:sp>
        <p:nvSpPr>
          <p:cNvPr id="3" name="Shape 1"/>
          <p:cNvSpPr/>
          <p:nvPr/>
        </p:nvSpPr>
        <p:spPr>
          <a:xfrm>
            <a:off x="457200" y="1280160"/>
            <a:ext cx="5454396" cy="1051560"/>
          </a:xfrm>
          <a:prstGeom prst="roundRect">
            <a:avLst>
              <a:gd name="adj" fmla="val 7826"/>
            </a:avLst>
          </a:prstGeom>
          <a:solidFill>
            <a:srgbClr val="F5F7FA"/>
          </a:solidFill>
          <a:ln/>
          <a:effectLst>
            <a:outerShdw sx="100000" sy="100000" kx="0" ky="0" algn="bl" rotWithShape="0" blurRad="101600" dist="25400" dir="5400000">
              <a:srgbClr val="1B2A4A">
                <a:alpha val="12000"/>
              </a:srgbClr>
            </a:outerShdw>
          </a:effectLst>
        </p:spPr>
      </p:sp>
      <p:sp>
        <p:nvSpPr>
          <p:cNvPr id="4" name="Text 2"/>
          <p:cNvSpPr txBox="1"/>
          <p:nvPr/>
        </p:nvSpPr>
        <p:spPr>
          <a:xfrm>
            <a:off x="457200" y="1371600"/>
            <a:ext cx="5454396" cy="365760"/>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Q&amp;A</a:t>
            </a:r>
            <a:endParaRPr lang="en-US" sz="1600" dirty="0"/>
          </a:p>
        </p:txBody>
      </p:sp>
      <p:sp>
        <p:nvSpPr>
          <p:cNvPr id="5" name="Text 3"/>
          <p:cNvSpPr txBox="1"/>
          <p:nvPr/>
        </p:nvSpPr>
        <p:spPr>
          <a:xfrm>
            <a:off x="594360" y="1783080"/>
            <a:ext cx="5180076" cy="457200"/>
          </a:xfrm>
          <a:prstGeom prst="rect">
            <a:avLst/>
          </a:prstGeom>
          <a:noFill/>
          <a:ln/>
        </p:spPr>
        <p:txBody>
          <a:bodyPr wrap="square" lIns="0" tIns="0" rIns="0" bIns="0" rtlCol="0" anchor="ctr"/>
          <a:lstStyle/>
          <a:p>
            <a:pPr rtl="1" algn="ctr" indent="0" marL="0">
              <a:buNone/>
            </a:pPr>
            <a:r>
              <a:rPr lang="en-US" sz="1200" dirty="0">
                <a:solidFill>
                  <a:srgbClr val="5A6472"/>
                </a:solidFill>
                <a:latin typeface="Calibri" pitchFamily="34" charset="0"/>
                <a:ea typeface="Calibri" pitchFamily="34" charset="-122"/>
                <a:cs typeface="Calibri" pitchFamily="34" charset="-120"/>
              </a:rPr>
              <a:t>Top-K — החלקים הרלוונטיים ביותר</a:t>
            </a:r>
            <a:endParaRPr lang="en-US" sz="1200" dirty="0"/>
          </a:p>
        </p:txBody>
      </p:sp>
      <p:sp>
        <p:nvSpPr>
          <p:cNvPr id="6" name="Shape 4"/>
          <p:cNvSpPr/>
          <p:nvPr/>
        </p:nvSpPr>
        <p:spPr>
          <a:xfrm>
            <a:off x="6277356" y="1280160"/>
            <a:ext cx="5454396" cy="1051560"/>
          </a:xfrm>
          <a:prstGeom prst="roundRect">
            <a:avLst>
              <a:gd name="adj" fmla="val 7826"/>
            </a:avLst>
          </a:prstGeom>
          <a:solidFill>
            <a:srgbClr val="E9EEF6"/>
          </a:solidFill>
          <a:ln/>
          <a:effectLst>
            <a:outerShdw sx="100000" sy="100000" kx="0" ky="0" algn="bl" rotWithShape="0" blurRad="101600" dist="25400" dir="5400000">
              <a:srgbClr val="1B2A4A">
                <a:alpha val="12000"/>
              </a:srgbClr>
            </a:outerShdw>
          </a:effectLst>
        </p:spPr>
      </p:sp>
      <p:sp>
        <p:nvSpPr>
          <p:cNvPr id="7" name="Text 5"/>
          <p:cNvSpPr txBox="1"/>
          <p:nvPr/>
        </p:nvSpPr>
        <p:spPr>
          <a:xfrm>
            <a:off x="6277356" y="1371600"/>
            <a:ext cx="5454396" cy="365760"/>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Summary</a:t>
            </a:r>
            <a:endParaRPr lang="en-US" sz="1600" dirty="0"/>
          </a:p>
        </p:txBody>
      </p:sp>
      <p:sp>
        <p:nvSpPr>
          <p:cNvPr id="8" name="Text 6"/>
          <p:cNvSpPr txBox="1"/>
          <p:nvPr/>
        </p:nvSpPr>
        <p:spPr>
          <a:xfrm>
            <a:off x="6414516" y="1783080"/>
            <a:ext cx="5180076" cy="457200"/>
          </a:xfrm>
          <a:prstGeom prst="rect">
            <a:avLst/>
          </a:prstGeom>
          <a:noFill/>
          <a:ln/>
        </p:spPr>
        <p:txBody>
          <a:bodyPr wrap="square" lIns="0" tIns="0" rIns="0" bIns="0" rtlCol="0" anchor="ctr"/>
          <a:lstStyle/>
          <a:p>
            <a:pPr rtl="1" algn="ctr" indent="0" marL="0">
              <a:buNone/>
            </a:pPr>
            <a:r>
              <a:rPr lang="en-US" sz="1200" dirty="0">
                <a:solidFill>
                  <a:srgbClr val="5A6472"/>
                </a:solidFill>
                <a:latin typeface="Calibri" pitchFamily="34" charset="0"/>
                <a:ea typeface="Calibri" pitchFamily="34" charset="-122"/>
                <a:cs typeface="Calibri" pitchFamily="34" charset="-120"/>
              </a:rPr>
              <a:t>ALL Chunks — כל המסמך</a:t>
            </a:r>
            <a:endParaRPr lang="en-US" sz="1200" dirty="0"/>
          </a:p>
        </p:txBody>
      </p:sp>
      <p:sp>
        <p:nvSpPr>
          <p:cNvPr id="9" name="Shape 7"/>
          <p:cNvSpPr/>
          <p:nvPr/>
        </p:nvSpPr>
        <p:spPr>
          <a:xfrm>
            <a:off x="1568196" y="2651760"/>
            <a:ext cx="1554480" cy="502920"/>
          </a:xfrm>
          <a:prstGeom prst="roundRect">
            <a:avLst>
              <a:gd name="adj" fmla="val 10909"/>
            </a:avLst>
          </a:prstGeom>
          <a:solidFill>
            <a:srgbClr val="1B2A4A"/>
          </a:solidFill>
          <a:ln/>
        </p:spPr>
      </p:sp>
      <p:sp>
        <p:nvSpPr>
          <p:cNvPr id="10" name="Text 8"/>
          <p:cNvSpPr txBox="1"/>
          <p:nvPr/>
        </p:nvSpPr>
        <p:spPr>
          <a:xfrm>
            <a:off x="1568196" y="2651760"/>
            <a:ext cx="15544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Chunks</a:t>
            </a:r>
            <a:endParaRPr lang="en-US" sz="1250" dirty="0"/>
          </a:p>
        </p:txBody>
      </p:sp>
      <p:sp>
        <p:nvSpPr>
          <p:cNvPr id="11" name="Text 9"/>
          <p:cNvSpPr txBox="1"/>
          <p:nvPr/>
        </p:nvSpPr>
        <p:spPr>
          <a:xfrm>
            <a:off x="3122676" y="2651760"/>
            <a:ext cx="320040" cy="502920"/>
          </a:xfrm>
          <a:prstGeom prst="rect">
            <a:avLst/>
          </a:prstGeom>
          <a:noFill/>
          <a:ln/>
        </p:spPr>
        <p:txBody>
          <a:bodyPr wrap="square" lIns="0" tIns="0" rIns="0" bIns="0" rtlCol="0" anchor="ctr"/>
          <a:lstStyle/>
          <a:p>
            <a:pPr algn="ctr" indent="0" marL="0">
              <a:buNone/>
            </a:pPr>
            <a:r>
              <a:rPr lang="en-US" sz="1600" dirty="0">
                <a:solidFill>
                  <a:srgbClr val="5A6472"/>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3442716" y="2651760"/>
            <a:ext cx="1554480" cy="502920"/>
          </a:xfrm>
          <a:prstGeom prst="roundRect">
            <a:avLst>
              <a:gd name="adj" fmla="val 10909"/>
            </a:avLst>
          </a:prstGeom>
          <a:solidFill>
            <a:srgbClr val="1B2A4A"/>
          </a:solidFill>
          <a:ln/>
        </p:spPr>
      </p:sp>
      <p:sp>
        <p:nvSpPr>
          <p:cNvPr id="13" name="Text 11"/>
          <p:cNvSpPr txBox="1"/>
          <p:nvPr/>
        </p:nvSpPr>
        <p:spPr>
          <a:xfrm>
            <a:off x="3442716" y="2651760"/>
            <a:ext cx="15544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Batches</a:t>
            </a:r>
            <a:endParaRPr lang="en-US" sz="1250" dirty="0"/>
          </a:p>
        </p:txBody>
      </p:sp>
      <p:sp>
        <p:nvSpPr>
          <p:cNvPr id="14" name="Text 12"/>
          <p:cNvSpPr txBox="1"/>
          <p:nvPr/>
        </p:nvSpPr>
        <p:spPr>
          <a:xfrm>
            <a:off x="4997196" y="2651760"/>
            <a:ext cx="320040" cy="502920"/>
          </a:xfrm>
          <a:prstGeom prst="rect">
            <a:avLst/>
          </a:prstGeom>
          <a:noFill/>
          <a:ln/>
        </p:spPr>
        <p:txBody>
          <a:bodyPr wrap="square" lIns="0" tIns="0" rIns="0" bIns="0" rtlCol="0" anchor="ctr"/>
          <a:lstStyle/>
          <a:p>
            <a:pPr algn="ctr" indent="0" marL="0">
              <a:buNone/>
            </a:pPr>
            <a:r>
              <a:rPr lang="en-US" sz="1600" dirty="0">
                <a:solidFill>
                  <a:srgbClr val="5A6472"/>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317236" y="2651760"/>
            <a:ext cx="1554480" cy="502920"/>
          </a:xfrm>
          <a:prstGeom prst="roundRect">
            <a:avLst>
              <a:gd name="adj" fmla="val 10909"/>
            </a:avLst>
          </a:prstGeom>
          <a:solidFill>
            <a:srgbClr val="1B2A4A"/>
          </a:solidFill>
          <a:ln/>
        </p:spPr>
      </p:sp>
      <p:sp>
        <p:nvSpPr>
          <p:cNvPr id="16" name="Text 14"/>
          <p:cNvSpPr txBox="1"/>
          <p:nvPr/>
        </p:nvSpPr>
        <p:spPr>
          <a:xfrm>
            <a:off x="5317236" y="2651760"/>
            <a:ext cx="15544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Map</a:t>
            </a:r>
            <a:endParaRPr lang="en-US" sz="1250" dirty="0"/>
          </a:p>
        </p:txBody>
      </p:sp>
      <p:sp>
        <p:nvSpPr>
          <p:cNvPr id="17" name="Text 15"/>
          <p:cNvSpPr txBox="1"/>
          <p:nvPr/>
        </p:nvSpPr>
        <p:spPr>
          <a:xfrm>
            <a:off x="6871716" y="2651760"/>
            <a:ext cx="320040" cy="502920"/>
          </a:xfrm>
          <a:prstGeom prst="rect">
            <a:avLst/>
          </a:prstGeom>
          <a:noFill/>
          <a:ln/>
        </p:spPr>
        <p:txBody>
          <a:bodyPr wrap="square" lIns="0" tIns="0" rIns="0" bIns="0" rtlCol="0" anchor="ctr"/>
          <a:lstStyle/>
          <a:p>
            <a:pPr algn="ctr" indent="0" marL="0">
              <a:buNone/>
            </a:pPr>
            <a:r>
              <a:rPr lang="en-US" sz="1600" dirty="0">
                <a:solidFill>
                  <a:srgbClr val="5A6472"/>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7191756" y="2651760"/>
            <a:ext cx="1554480" cy="502920"/>
          </a:xfrm>
          <a:prstGeom prst="roundRect">
            <a:avLst>
              <a:gd name="adj" fmla="val 10909"/>
            </a:avLst>
          </a:prstGeom>
          <a:solidFill>
            <a:srgbClr val="1B2A4A"/>
          </a:solidFill>
          <a:ln/>
        </p:spPr>
      </p:sp>
      <p:sp>
        <p:nvSpPr>
          <p:cNvPr id="19" name="Text 17"/>
          <p:cNvSpPr txBox="1"/>
          <p:nvPr/>
        </p:nvSpPr>
        <p:spPr>
          <a:xfrm>
            <a:off x="7191756" y="2651760"/>
            <a:ext cx="15544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Reduce</a:t>
            </a:r>
            <a:endParaRPr lang="en-US" sz="1250" dirty="0"/>
          </a:p>
        </p:txBody>
      </p:sp>
      <p:sp>
        <p:nvSpPr>
          <p:cNvPr id="20" name="Text 18"/>
          <p:cNvSpPr txBox="1"/>
          <p:nvPr/>
        </p:nvSpPr>
        <p:spPr>
          <a:xfrm>
            <a:off x="8746236" y="2651760"/>
            <a:ext cx="320040" cy="502920"/>
          </a:xfrm>
          <a:prstGeom prst="rect">
            <a:avLst/>
          </a:prstGeom>
          <a:noFill/>
          <a:ln/>
        </p:spPr>
        <p:txBody>
          <a:bodyPr wrap="square" lIns="0" tIns="0" rIns="0" bIns="0" rtlCol="0" anchor="ctr"/>
          <a:lstStyle/>
          <a:p>
            <a:pPr algn="ctr" indent="0" marL="0">
              <a:buNone/>
            </a:pPr>
            <a:r>
              <a:rPr lang="en-US" sz="1600" dirty="0">
                <a:solidFill>
                  <a:srgbClr val="5A6472"/>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9066276" y="2651760"/>
            <a:ext cx="1554480" cy="502920"/>
          </a:xfrm>
          <a:prstGeom prst="roundRect">
            <a:avLst>
              <a:gd name="adj" fmla="val 10909"/>
            </a:avLst>
          </a:prstGeom>
          <a:solidFill>
            <a:srgbClr val="1B2A4A"/>
          </a:solidFill>
          <a:ln/>
        </p:spPr>
      </p:sp>
      <p:sp>
        <p:nvSpPr>
          <p:cNvPr id="22" name="Text 20"/>
          <p:cNvSpPr txBox="1"/>
          <p:nvPr/>
        </p:nvSpPr>
        <p:spPr>
          <a:xfrm>
            <a:off x="9066276" y="2651760"/>
            <a:ext cx="155448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Summary</a:t>
            </a:r>
            <a:endParaRPr lang="en-US" sz="1250" dirty="0"/>
          </a:p>
        </p:txBody>
      </p:sp>
      <p:sp>
        <p:nvSpPr>
          <p:cNvPr id="23" name="Text 21"/>
          <p:cNvSpPr txBox="1"/>
          <p:nvPr/>
        </p:nvSpPr>
        <p:spPr>
          <a:xfrm>
            <a:off x="457200" y="3611880"/>
            <a:ext cx="3758184" cy="822960"/>
          </a:xfrm>
          <a:prstGeom prst="rect">
            <a:avLst/>
          </a:prstGeom>
          <a:noFill/>
          <a:ln/>
        </p:spPr>
        <p:txBody>
          <a:bodyPr wrap="square" lIns="0" tIns="0" rIns="0" bIns="0" rtlCol="0" anchor="ctr"/>
          <a:lstStyle/>
          <a:p>
            <a:pPr algn="ctr" indent="0" marL="0">
              <a:buNone/>
            </a:pPr>
            <a:r>
              <a:rPr lang="en-US" sz="4800" b="1" dirty="0">
                <a:solidFill>
                  <a:srgbClr val="D9A441"/>
                </a:solidFill>
                <a:latin typeface="Calibri" pitchFamily="34" charset="0"/>
                <a:ea typeface="Calibri" pitchFamily="34" charset="-122"/>
                <a:cs typeface="Calibri" pitchFamily="34" charset="-120"/>
              </a:rPr>
              <a:t>21</a:t>
            </a:r>
            <a:endParaRPr lang="en-US" sz="4800" dirty="0"/>
          </a:p>
        </p:txBody>
      </p:sp>
      <p:sp>
        <p:nvSpPr>
          <p:cNvPr id="24" name="Text 22"/>
          <p:cNvSpPr txBox="1"/>
          <p:nvPr/>
        </p:nvSpPr>
        <p:spPr>
          <a:xfrm>
            <a:off x="457200" y="4389120"/>
            <a:ext cx="3758184" cy="365760"/>
          </a:xfrm>
          <a:prstGeom prst="rect">
            <a:avLst/>
          </a:prstGeom>
          <a:noFill/>
          <a:ln/>
        </p:spPr>
        <p:txBody>
          <a:bodyPr wrap="square" lIns="0" tIns="0" rIns="0" bIns="0" rtlCol="0" anchor="ctr"/>
          <a:lstStyle/>
          <a:p>
            <a:pPr rtl="1" algn="ctr" indent="0" marL="0">
              <a:buNone/>
            </a:pPr>
            <a:r>
              <a:rPr lang="en-US" sz="1300" dirty="0">
                <a:solidFill>
                  <a:srgbClr val="5A6472"/>
                </a:solidFill>
                <a:latin typeface="Calibri" pitchFamily="34" charset="0"/>
                <a:ea typeface="Calibri" pitchFamily="34" charset="-122"/>
                <a:cs typeface="Calibri" pitchFamily="34" charset="-120"/>
              </a:rPr>
              <a:t>עמודים</a:t>
            </a:r>
            <a:endParaRPr lang="en-US" sz="1300" dirty="0"/>
          </a:p>
        </p:txBody>
      </p:sp>
      <p:sp>
        <p:nvSpPr>
          <p:cNvPr id="25" name="Text 23"/>
          <p:cNvSpPr txBox="1"/>
          <p:nvPr/>
        </p:nvSpPr>
        <p:spPr>
          <a:xfrm>
            <a:off x="4215384" y="3611880"/>
            <a:ext cx="3758184" cy="822960"/>
          </a:xfrm>
          <a:prstGeom prst="rect">
            <a:avLst/>
          </a:prstGeom>
          <a:noFill/>
          <a:ln/>
        </p:spPr>
        <p:txBody>
          <a:bodyPr wrap="square" lIns="0" tIns="0" rIns="0" bIns="0" rtlCol="0" anchor="ctr"/>
          <a:lstStyle/>
          <a:p>
            <a:pPr algn="ctr" indent="0" marL="0">
              <a:buNone/>
            </a:pPr>
            <a:r>
              <a:rPr lang="en-US" sz="4800" b="1" dirty="0">
                <a:solidFill>
                  <a:srgbClr val="D9A441"/>
                </a:solidFill>
                <a:latin typeface="Calibri" pitchFamily="34" charset="0"/>
                <a:ea typeface="Calibri" pitchFamily="34" charset="-122"/>
                <a:cs typeface="Calibri" pitchFamily="34" charset="-120"/>
              </a:rPr>
              <a:t>27</a:t>
            </a:r>
            <a:endParaRPr lang="en-US" sz="4800" dirty="0"/>
          </a:p>
        </p:txBody>
      </p:sp>
      <p:sp>
        <p:nvSpPr>
          <p:cNvPr id="26" name="Text 24"/>
          <p:cNvSpPr txBox="1"/>
          <p:nvPr/>
        </p:nvSpPr>
        <p:spPr>
          <a:xfrm>
            <a:off x="4215384" y="4389120"/>
            <a:ext cx="3758184" cy="365760"/>
          </a:xfrm>
          <a:prstGeom prst="rect">
            <a:avLst/>
          </a:prstGeom>
          <a:noFill/>
          <a:ln/>
        </p:spPr>
        <p:txBody>
          <a:bodyPr wrap="square" lIns="0" tIns="0" rIns="0" bIns="0" rtlCol="0" anchor="ctr"/>
          <a:lstStyle/>
          <a:p>
            <a:pPr rtl="1" algn="ctr" indent="0" marL="0">
              <a:buNone/>
            </a:pPr>
            <a:r>
              <a:rPr lang="en-US" sz="1300" dirty="0">
                <a:solidFill>
                  <a:srgbClr val="5A6472"/>
                </a:solidFill>
                <a:latin typeface="Calibri" pitchFamily="34" charset="0"/>
                <a:ea typeface="Calibri" pitchFamily="34" charset="-122"/>
                <a:cs typeface="Calibri" pitchFamily="34" charset="-120"/>
              </a:rPr>
              <a:t>Chunks</a:t>
            </a:r>
            <a:endParaRPr lang="en-US" sz="1300" dirty="0"/>
          </a:p>
        </p:txBody>
      </p:sp>
      <p:sp>
        <p:nvSpPr>
          <p:cNvPr id="27" name="Text 25"/>
          <p:cNvSpPr txBox="1"/>
          <p:nvPr/>
        </p:nvSpPr>
        <p:spPr>
          <a:xfrm>
            <a:off x="7973568" y="3611880"/>
            <a:ext cx="3758184" cy="822960"/>
          </a:xfrm>
          <a:prstGeom prst="rect">
            <a:avLst/>
          </a:prstGeom>
          <a:noFill/>
          <a:ln/>
        </p:spPr>
        <p:txBody>
          <a:bodyPr wrap="square" lIns="0" tIns="0" rIns="0" bIns="0" rtlCol="0" anchor="ctr"/>
          <a:lstStyle/>
          <a:p>
            <a:pPr algn="ctr" indent="0" marL="0">
              <a:buNone/>
            </a:pPr>
            <a:r>
              <a:rPr lang="en-US" sz="4800" b="1" dirty="0">
                <a:solidFill>
                  <a:srgbClr val="D9A441"/>
                </a:solidFill>
                <a:latin typeface="Calibri" pitchFamily="34" charset="0"/>
                <a:ea typeface="Calibri" pitchFamily="34" charset="-122"/>
                <a:cs typeface="Calibri" pitchFamily="34" charset="-120"/>
              </a:rPr>
              <a:t>3</a:t>
            </a:r>
            <a:endParaRPr lang="en-US" sz="4800" dirty="0"/>
          </a:p>
        </p:txBody>
      </p:sp>
      <p:sp>
        <p:nvSpPr>
          <p:cNvPr id="28" name="Text 26"/>
          <p:cNvSpPr txBox="1"/>
          <p:nvPr/>
        </p:nvSpPr>
        <p:spPr>
          <a:xfrm>
            <a:off x="7973568" y="4389120"/>
            <a:ext cx="3758184" cy="365760"/>
          </a:xfrm>
          <a:prstGeom prst="rect">
            <a:avLst/>
          </a:prstGeom>
          <a:noFill/>
          <a:ln/>
        </p:spPr>
        <p:txBody>
          <a:bodyPr wrap="square" lIns="0" tIns="0" rIns="0" bIns="0" rtlCol="0" anchor="ctr"/>
          <a:lstStyle/>
          <a:p>
            <a:pPr rtl="1" algn="ctr" indent="0" marL="0">
              <a:buNone/>
            </a:pPr>
            <a:r>
              <a:rPr lang="en-US" sz="1300" dirty="0">
                <a:solidFill>
                  <a:srgbClr val="5A6472"/>
                </a:solidFill>
                <a:latin typeface="Calibri" pitchFamily="34" charset="0"/>
                <a:ea typeface="Calibri" pitchFamily="34" charset="-122"/>
                <a:cs typeface="Calibri" pitchFamily="34" charset="-120"/>
              </a:rPr>
              <a:t>Batches</a:t>
            </a:r>
            <a:endParaRPr lang="en-US" sz="1300" dirty="0"/>
          </a:p>
        </p:txBody>
      </p:sp>
      <p:sp>
        <p:nvSpPr>
          <p:cNvPr id="29" name="Shape 27"/>
          <p:cNvSpPr/>
          <p:nvPr/>
        </p:nvSpPr>
        <p:spPr>
          <a:xfrm>
            <a:off x="457200" y="5074920"/>
            <a:ext cx="11274552" cy="1051560"/>
          </a:xfrm>
          <a:prstGeom prst="roundRect">
            <a:avLst>
              <a:gd name="adj" fmla="val 7826"/>
            </a:avLst>
          </a:prstGeom>
          <a:solidFill>
            <a:srgbClr val="1B2A4A"/>
          </a:solidFill>
          <a:ln/>
          <a:effectLst>
            <a:outerShdw sx="100000" sy="100000" kx="0" ky="0" algn="bl" rotWithShape="0" blurRad="101600" dist="25400" dir="5400000">
              <a:srgbClr val="1B2A4A">
                <a:alpha val="12000"/>
              </a:srgbClr>
            </a:outerShdw>
          </a:effectLst>
        </p:spPr>
      </p:sp>
      <p:sp>
        <p:nvSpPr>
          <p:cNvPr id="30" name="Text 28"/>
          <p:cNvSpPr txBox="1"/>
          <p:nvPr/>
        </p:nvSpPr>
        <p:spPr>
          <a:xfrm>
            <a:off x="685800" y="5074920"/>
            <a:ext cx="10817352" cy="10515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הנושא Objects / אובייקטים (עמודים 19–21) הופיע בסיכום הסופי — הוכחה שהמערכת לא מסכמת רק את תחילת המסמך.</a:t>
            </a:r>
            <a:endParaRPr lang="en-US" sz="1400" dirty="0"/>
          </a:p>
        </p:txBody>
      </p:sp>
      <p:sp>
        <p:nvSpPr>
          <p:cNvPr id="32" name="Text 29"/>
          <p:cNvSpPr txBox="1"/>
          <p:nvPr/>
        </p:nvSpPr>
        <p:spPr>
          <a:xfrm>
            <a:off x="457200" y="6510528"/>
            <a:ext cx="2743200" cy="274320"/>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ea typeface="Calibri" pitchFamily="34" charset="-122"/>
                <a:cs typeface="Calibri" pitchFamily="34" charset="-120"/>
              </a:rPr>
              <a:t>CourseMind</a:t>
            </a:r>
            <a:endParaRPr lang="en-US" sz="900" dirty="0"/>
          </a:p>
        </p:txBody>
      </p:sp>
      <p:sp>
        <p:nvSpPr>
          <p:cNvPr id="33" name="Text 30"/>
          <p:cNvSpPr txBox="1"/>
          <p:nvPr/>
        </p:nvSpPr>
        <p:spPr>
          <a:xfrm>
            <a:off x="8988552" y="6510528"/>
            <a:ext cx="2743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65760"/>
            <a:ext cx="11274552" cy="731520"/>
          </a:xfrm>
          <a:prstGeom prst="rect">
            <a:avLst/>
          </a:prstGeom>
          <a:noFill/>
          <a:ln/>
        </p:spPr>
        <p:txBody>
          <a:bodyPr wrap="square" lIns="0" tIns="0" rIns="0" bIns="0" rtlCol="0" anchor="ctr"/>
          <a:lstStyle/>
          <a:p>
            <a:pPr rtl="1" algn="r" indent="0" marL="0">
              <a:buNone/>
            </a:pPr>
            <a:r>
              <a:rPr lang="en-US" sz="2700" b="1" dirty="0">
                <a:solidFill>
                  <a:srgbClr val="1B2A4A"/>
                </a:solidFill>
                <a:latin typeface="Calibri" pitchFamily="34" charset="0"/>
                <a:ea typeface="Calibri" pitchFamily="34" charset="-122"/>
                <a:cs typeface="Calibri" pitchFamily="34" charset="-120"/>
              </a:rPr>
              <a:t>Evaluation — האם המערכת באמת עובדת?</a:t>
            </a:r>
            <a:endParaRPr lang="en-US" sz="2700" dirty="0"/>
          </a:p>
        </p:txBody>
      </p:sp>
      <p:sp>
        <p:nvSpPr>
          <p:cNvPr id="3" name="Text 1"/>
          <p:cNvSpPr txBox="1"/>
          <p:nvPr/>
        </p:nvSpPr>
        <p:spPr>
          <a:xfrm>
            <a:off x="0" y="1371600"/>
            <a:ext cx="12188952" cy="1371600"/>
          </a:xfrm>
          <a:prstGeom prst="rect">
            <a:avLst/>
          </a:prstGeom>
          <a:noFill/>
          <a:ln/>
        </p:spPr>
        <p:txBody>
          <a:bodyPr wrap="square" lIns="0" tIns="0" rIns="0" bIns="0" rtlCol="0" anchor="ctr"/>
          <a:lstStyle/>
          <a:p>
            <a:pPr algn="ctr" indent="0" marL="0">
              <a:buNone/>
            </a:pPr>
            <a:r>
              <a:rPr lang="en-US" sz="8400" b="1" dirty="0">
                <a:solidFill>
                  <a:srgbClr val="D9A441"/>
                </a:solidFill>
                <a:latin typeface="Calibri" pitchFamily="34" charset="0"/>
                <a:ea typeface="Calibri" pitchFamily="34" charset="-122"/>
                <a:cs typeface="Calibri" pitchFamily="34" charset="-120"/>
              </a:rPr>
              <a:t>13/13</a:t>
            </a:r>
            <a:endParaRPr lang="en-US" sz="8400" dirty="0"/>
          </a:p>
        </p:txBody>
      </p:sp>
      <p:sp>
        <p:nvSpPr>
          <p:cNvPr id="4" name="Shape 2"/>
          <p:cNvSpPr/>
          <p:nvPr/>
        </p:nvSpPr>
        <p:spPr>
          <a:xfrm>
            <a:off x="457200" y="3017520"/>
            <a:ext cx="2612898" cy="1188720"/>
          </a:xfrm>
          <a:prstGeom prst="roundRect">
            <a:avLst>
              <a:gd name="adj" fmla="val 6923"/>
            </a:avLst>
          </a:prstGeom>
          <a:solidFill>
            <a:srgbClr val="F5F7FA"/>
          </a:solidFill>
          <a:ln/>
          <a:effectLst>
            <a:outerShdw sx="100000" sy="100000" kx="0" ky="0" algn="bl" rotWithShape="0" blurRad="101600" dist="25400" dir="5400000">
              <a:srgbClr val="1B2A4A">
                <a:alpha val="12000"/>
              </a:srgbClr>
            </a:outerShdw>
          </a:effectLst>
        </p:spPr>
      </p:sp>
      <p:sp>
        <p:nvSpPr>
          <p:cNvPr id="5" name="Text 3"/>
          <p:cNvSpPr txBox="1"/>
          <p:nvPr/>
        </p:nvSpPr>
        <p:spPr>
          <a:xfrm>
            <a:off x="457200" y="3108960"/>
            <a:ext cx="2612898" cy="548640"/>
          </a:xfrm>
          <a:prstGeom prst="rect">
            <a:avLst/>
          </a:prstGeom>
          <a:noFill/>
          <a:ln/>
        </p:spPr>
        <p:txBody>
          <a:bodyPr wrap="square" lIns="0" tIns="0" rIns="0" bIns="0" rtlCol="0" anchor="ctr"/>
          <a:lstStyle/>
          <a:p>
            <a:pPr algn="ctr" indent="0" marL="0">
              <a:buNone/>
            </a:pPr>
            <a:r>
              <a:rPr lang="en-US" sz="2400" b="1" dirty="0">
                <a:solidFill>
                  <a:srgbClr val="1B2A4A"/>
                </a:solidFill>
                <a:latin typeface="Calibri" pitchFamily="34" charset="0"/>
                <a:ea typeface="Calibri" pitchFamily="34" charset="-122"/>
                <a:cs typeface="Calibri" pitchFamily="34" charset="-120"/>
              </a:rPr>
              <a:t>5/5</a:t>
            </a:r>
            <a:endParaRPr lang="en-US" sz="2400" dirty="0"/>
          </a:p>
        </p:txBody>
      </p:sp>
      <p:sp>
        <p:nvSpPr>
          <p:cNvPr id="6" name="Text 4"/>
          <p:cNvSpPr txBox="1"/>
          <p:nvPr/>
        </p:nvSpPr>
        <p:spPr>
          <a:xfrm>
            <a:off x="548640" y="3657600"/>
            <a:ext cx="2430018" cy="457200"/>
          </a:xfrm>
          <a:prstGeom prst="rect">
            <a:avLst/>
          </a:prstGeom>
          <a:noFill/>
          <a:ln/>
        </p:spPr>
        <p:txBody>
          <a:bodyPr wrap="square" lIns="0" tIns="0" rIns="0" bIns="0" rtlCol="0" anchor="ctr"/>
          <a:lstStyle/>
          <a:p>
            <a:pPr algn="ctr" indent="0" marL="0">
              <a:buNone/>
            </a:pPr>
            <a:r>
              <a:rPr lang="en-US" sz="1150" dirty="0">
                <a:solidFill>
                  <a:srgbClr val="5A6472"/>
                </a:solidFill>
                <a:latin typeface="Calibri" pitchFamily="34" charset="0"/>
                <a:ea typeface="Calibri" pitchFamily="34" charset="-122"/>
                <a:cs typeface="Calibri" pitchFamily="34" charset="-120"/>
              </a:rPr>
              <a:t>Source Hit@K</a:t>
            </a:r>
            <a:endParaRPr lang="en-US" sz="1150" dirty="0"/>
          </a:p>
        </p:txBody>
      </p:sp>
      <p:sp>
        <p:nvSpPr>
          <p:cNvPr id="7" name="Shape 5"/>
          <p:cNvSpPr/>
          <p:nvPr/>
        </p:nvSpPr>
        <p:spPr>
          <a:xfrm>
            <a:off x="3344418" y="3017520"/>
            <a:ext cx="2612898" cy="1188720"/>
          </a:xfrm>
          <a:prstGeom prst="roundRect">
            <a:avLst>
              <a:gd name="adj" fmla="val 6923"/>
            </a:avLst>
          </a:prstGeom>
          <a:solidFill>
            <a:srgbClr val="F5F7FA"/>
          </a:solidFill>
          <a:ln/>
          <a:effectLst>
            <a:outerShdw sx="100000" sy="100000" kx="0" ky="0" algn="bl" rotWithShape="0" blurRad="101600" dist="25400" dir="5400000">
              <a:srgbClr val="1B2A4A">
                <a:alpha val="12000"/>
              </a:srgbClr>
            </a:outerShdw>
          </a:effectLst>
        </p:spPr>
      </p:sp>
      <p:sp>
        <p:nvSpPr>
          <p:cNvPr id="8" name="Text 6"/>
          <p:cNvSpPr txBox="1"/>
          <p:nvPr/>
        </p:nvSpPr>
        <p:spPr>
          <a:xfrm>
            <a:off x="3344418" y="3108960"/>
            <a:ext cx="2612898" cy="548640"/>
          </a:xfrm>
          <a:prstGeom prst="rect">
            <a:avLst/>
          </a:prstGeom>
          <a:noFill/>
          <a:ln/>
        </p:spPr>
        <p:txBody>
          <a:bodyPr wrap="square" lIns="0" tIns="0" rIns="0" bIns="0" rtlCol="0" anchor="ctr"/>
          <a:lstStyle/>
          <a:p>
            <a:pPr algn="ctr" indent="0" marL="0">
              <a:buNone/>
            </a:pPr>
            <a:r>
              <a:rPr lang="en-US" sz="2400" b="1" dirty="0">
                <a:solidFill>
                  <a:srgbClr val="1B2A4A"/>
                </a:solidFill>
                <a:latin typeface="Calibri" pitchFamily="34" charset="0"/>
                <a:ea typeface="Calibri" pitchFamily="34" charset="-122"/>
                <a:cs typeface="Calibri" pitchFamily="34" charset="-120"/>
              </a:rPr>
              <a:t>2/2</a:t>
            </a:r>
            <a:endParaRPr lang="en-US" sz="2400" dirty="0"/>
          </a:p>
        </p:txBody>
      </p:sp>
      <p:sp>
        <p:nvSpPr>
          <p:cNvPr id="9" name="Text 7"/>
          <p:cNvSpPr txBox="1"/>
          <p:nvPr/>
        </p:nvSpPr>
        <p:spPr>
          <a:xfrm>
            <a:off x="3435858" y="3657600"/>
            <a:ext cx="2430018" cy="457200"/>
          </a:xfrm>
          <a:prstGeom prst="rect">
            <a:avLst/>
          </a:prstGeom>
          <a:noFill/>
          <a:ln/>
        </p:spPr>
        <p:txBody>
          <a:bodyPr wrap="square" lIns="0" tIns="0" rIns="0" bIns="0" rtlCol="0" anchor="ctr"/>
          <a:lstStyle/>
          <a:p>
            <a:pPr algn="ctr" indent="0" marL="0">
              <a:buNone/>
            </a:pPr>
            <a:r>
              <a:rPr lang="en-US" sz="1150" dirty="0">
                <a:solidFill>
                  <a:srgbClr val="5A6472"/>
                </a:solidFill>
                <a:latin typeface="Calibri" pitchFamily="34" charset="0"/>
                <a:ea typeface="Calibri" pitchFamily="34" charset="-122"/>
                <a:cs typeface="Calibri" pitchFamily="34" charset="-120"/>
              </a:rPr>
              <a:t>Grounding Refusal</a:t>
            </a:r>
            <a:endParaRPr lang="en-US" sz="1150" dirty="0"/>
          </a:p>
        </p:txBody>
      </p:sp>
      <p:sp>
        <p:nvSpPr>
          <p:cNvPr id="10" name="Shape 8"/>
          <p:cNvSpPr/>
          <p:nvPr/>
        </p:nvSpPr>
        <p:spPr>
          <a:xfrm>
            <a:off x="6231636" y="3017520"/>
            <a:ext cx="2612898" cy="1188720"/>
          </a:xfrm>
          <a:prstGeom prst="roundRect">
            <a:avLst>
              <a:gd name="adj" fmla="val 6923"/>
            </a:avLst>
          </a:prstGeom>
          <a:solidFill>
            <a:srgbClr val="F5F7FA"/>
          </a:solidFill>
          <a:ln/>
          <a:effectLst>
            <a:outerShdw sx="100000" sy="100000" kx="0" ky="0" algn="bl" rotWithShape="0" blurRad="101600" dist="25400" dir="5400000">
              <a:srgbClr val="1B2A4A">
                <a:alpha val="12000"/>
              </a:srgbClr>
            </a:outerShdw>
          </a:effectLst>
        </p:spPr>
      </p:sp>
      <p:sp>
        <p:nvSpPr>
          <p:cNvPr id="11" name="Text 9"/>
          <p:cNvSpPr txBox="1"/>
          <p:nvPr/>
        </p:nvSpPr>
        <p:spPr>
          <a:xfrm>
            <a:off x="6231636" y="3108960"/>
            <a:ext cx="2612898" cy="548640"/>
          </a:xfrm>
          <a:prstGeom prst="rect">
            <a:avLst/>
          </a:prstGeom>
          <a:noFill/>
          <a:ln/>
        </p:spPr>
        <p:txBody>
          <a:bodyPr wrap="square" lIns="0" tIns="0" rIns="0" bIns="0" rtlCol="0" anchor="ctr"/>
          <a:lstStyle/>
          <a:p>
            <a:pPr algn="ctr" indent="0" marL="0">
              <a:buNone/>
            </a:pPr>
            <a:r>
              <a:rPr lang="en-US" sz="2400" b="1" dirty="0">
                <a:solidFill>
                  <a:srgbClr val="1B2A4A"/>
                </a:solidFill>
                <a:latin typeface="Calibri" pitchFamily="34" charset="0"/>
                <a:ea typeface="Calibri" pitchFamily="34" charset="-122"/>
                <a:cs typeface="Calibri" pitchFamily="34" charset="-120"/>
              </a:rPr>
              <a:t>2/2</a:t>
            </a:r>
            <a:endParaRPr lang="en-US" sz="2400" dirty="0"/>
          </a:p>
        </p:txBody>
      </p:sp>
      <p:sp>
        <p:nvSpPr>
          <p:cNvPr id="12" name="Text 10"/>
          <p:cNvSpPr txBox="1"/>
          <p:nvPr/>
        </p:nvSpPr>
        <p:spPr>
          <a:xfrm>
            <a:off x="6323076" y="3657600"/>
            <a:ext cx="2430018" cy="457200"/>
          </a:xfrm>
          <a:prstGeom prst="rect">
            <a:avLst/>
          </a:prstGeom>
          <a:noFill/>
          <a:ln/>
        </p:spPr>
        <p:txBody>
          <a:bodyPr wrap="square" lIns="0" tIns="0" rIns="0" bIns="0" rtlCol="0" anchor="ctr"/>
          <a:lstStyle/>
          <a:p>
            <a:pPr algn="ctr" indent="0" marL="0">
              <a:buNone/>
            </a:pPr>
            <a:r>
              <a:rPr lang="en-US" sz="1150" dirty="0">
                <a:solidFill>
                  <a:srgbClr val="5A6472"/>
                </a:solidFill>
                <a:latin typeface="Calibri" pitchFamily="34" charset="0"/>
                <a:ea typeface="Calibri" pitchFamily="34" charset="-122"/>
                <a:cs typeface="Calibri" pitchFamily="34" charset="-120"/>
              </a:rPr>
              <a:t>Document Isolation</a:t>
            </a:r>
            <a:endParaRPr lang="en-US" sz="1150" dirty="0"/>
          </a:p>
        </p:txBody>
      </p:sp>
      <p:sp>
        <p:nvSpPr>
          <p:cNvPr id="13" name="Shape 11"/>
          <p:cNvSpPr/>
          <p:nvPr/>
        </p:nvSpPr>
        <p:spPr>
          <a:xfrm>
            <a:off x="9118854" y="3017520"/>
            <a:ext cx="2612898" cy="1188720"/>
          </a:xfrm>
          <a:prstGeom prst="roundRect">
            <a:avLst>
              <a:gd name="adj" fmla="val 6923"/>
            </a:avLst>
          </a:prstGeom>
          <a:solidFill>
            <a:srgbClr val="F5F7FA"/>
          </a:solidFill>
          <a:ln/>
          <a:effectLst>
            <a:outerShdw sx="100000" sy="100000" kx="0" ky="0" algn="bl" rotWithShape="0" blurRad="101600" dist="25400" dir="5400000">
              <a:srgbClr val="1B2A4A">
                <a:alpha val="12000"/>
              </a:srgbClr>
            </a:outerShdw>
          </a:effectLst>
        </p:spPr>
      </p:sp>
      <p:sp>
        <p:nvSpPr>
          <p:cNvPr id="14" name="Text 12"/>
          <p:cNvSpPr txBox="1"/>
          <p:nvPr/>
        </p:nvSpPr>
        <p:spPr>
          <a:xfrm>
            <a:off x="9118854" y="3108960"/>
            <a:ext cx="2612898" cy="548640"/>
          </a:xfrm>
          <a:prstGeom prst="rect">
            <a:avLst/>
          </a:prstGeom>
          <a:noFill/>
          <a:ln/>
        </p:spPr>
        <p:txBody>
          <a:bodyPr wrap="square" lIns="0" tIns="0" rIns="0" bIns="0" rtlCol="0" anchor="ctr"/>
          <a:lstStyle/>
          <a:p>
            <a:pPr algn="ctr" indent="0" marL="0">
              <a:buNone/>
            </a:pPr>
            <a:r>
              <a:rPr lang="en-US" sz="2400" b="1" dirty="0">
                <a:solidFill>
                  <a:srgbClr val="1B2A4A"/>
                </a:solidFill>
                <a:latin typeface="Calibri" pitchFamily="34" charset="0"/>
                <a:ea typeface="Calibri" pitchFamily="34" charset="-122"/>
                <a:cs typeface="Calibri" pitchFamily="34" charset="-120"/>
              </a:rPr>
              <a:t>PASS</a:t>
            </a:r>
            <a:endParaRPr lang="en-US" sz="2400" dirty="0"/>
          </a:p>
        </p:txBody>
      </p:sp>
      <p:sp>
        <p:nvSpPr>
          <p:cNvPr id="15" name="Text 13"/>
          <p:cNvSpPr txBox="1"/>
          <p:nvPr/>
        </p:nvSpPr>
        <p:spPr>
          <a:xfrm>
            <a:off x="9210294" y="3657600"/>
            <a:ext cx="2430018" cy="457200"/>
          </a:xfrm>
          <a:prstGeom prst="rect">
            <a:avLst/>
          </a:prstGeom>
          <a:noFill/>
          <a:ln/>
        </p:spPr>
        <p:txBody>
          <a:bodyPr wrap="square" lIns="0" tIns="0" rIns="0" bIns="0" rtlCol="0" anchor="ctr"/>
          <a:lstStyle/>
          <a:p>
            <a:pPr algn="ctr" indent="0" marL="0">
              <a:buNone/>
            </a:pPr>
            <a:r>
              <a:rPr lang="en-US" sz="1150" dirty="0">
                <a:solidFill>
                  <a:srgbClr val="5A6472"/>
                </a:solidFill>
                <a:latin typeface="Calibri" pitchFamily="34" charset="0"/>
                <a:ea typeface="Calibri" pitchFamily="34" charset="-122"/>
                <a:cs typeface="Calibri" pitchFamily="34" charset="-120"/>
              </a:rPr>
              <a:t>Late-page Coverage</a:t>
            </a:r>
            <a:endParaRPr lang="en-US" sz="1150" dirty="0"/>
          </a:p>
        </p:txBody>
      </p:sp>
      <p:sp>
        <p:nvSpPr>
          <p:cNvPr id="16" name="Shape 14"/>
          <p:cNvSpPr/>
          <p:nvPr/>
        </p:nvSpPr>
        <p:spPr>
          <a:xfrm>
            <a:off x="457200" y="4663440"/>
            <a:ext cx="11274552" cy="777240"/>
          </a:xfrm>
          <a:prstGeom prst="roundRect">
            <a:avLst>
              <a:gd name="adj" fmla="val 10588"/>
            </a:avLst>
          </a:prstGeom>
          <a:solidFill>
            <a:srgbClr val="1B2A4A"/>
          </a:solidFill>
          <a:ln/>
          <a:effectLst>
            <a:outerShdw sx="100000" sy="100000" kx="0" ky="0" algn="bl" rotWithShape="0" blurRad="101600" dist="25400" dir="5400000">
              <a:srgbClr val="1B2A4A">
                <a:alpha val="12000"/>
              </a:srgbClr>
            </a:outerShdw>
          </a:effectLst>
        </p:spPr>
      </p:sp>
      <p:sp>
        <p:nvSpPr>
          <p:cNvPr id="17" name="Text 15"/>
          <p:cNvSpPr txBox="1"/>
          <p:nvPr/>
        </p:nvSpPr>
        <p:spPr>
          <a:xfrm>
            <a:off x="457200" y="4663440"/>
            <a:ext cx="11274552" cy="777240"/>
          </a:xfrm>
          <a:prstGeom prst="rect">
            <a:avLst/>
          </a:prstGeom>
          <a:noFill/>
          <a:ln/>
        </p:spPr>
        <p:txBody>
          <a:bodyPr wrap="square" lIns="0" tIns="0" rIns="0" bIns="0" rtlCol="0" anchor="ctr"/>
          <a:lstStyle/>
          <a:p>
            <a:pPr rtl="1" algn="ctr" indent="0" marL="0">
              <a:buNone/>
            </a:pPr>
            <a:r>
              <a:rPr lang="en-US" sz="1600" b="1" dirty="0">
                <a:solidFill>
                  <a:srgbClr val="FFFFFF"/>
                </a:solidFill>
                <a:latin typeface="Calibri" pitchFamily="34" charset="0"/>
                <a:ea typeface="Calibri" pitchFamily="34" charset="-122"/>
                <a:cs typeface="Calibri" pitchFamily="34" charset="-120"/>
              </a:rPr>
              <a:t>100% על סט הבדיקות הייחוסי שהגדרנו</a:t>
            </a:r>
            <a:endParaRPr lang="en-US" sz="1600" dirty="0"/>
          </a:p>
        </p:txBody>
      </p:sp>
      <p:sp>
        <p:nvSpPr>
          <p:cNvPr id="19" name="Text 16"/>
          <p:cNvSpPr txBox="1"/>
          <p:nvPr/>
        </p:nvSpPr>
        <p:spPr>
          <a:xfrm>
            <a:off x="457200" y="6510528"/>
            <a:ext cx="2743200" cy="274320"/>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ea typeface="Calibri" pitchFamily="34" charset="-122"/>
                <a:cs typeface="Calibri" pitchFamily="34" charset="-120"/>
              </a:rPr>
              <a:t>CourseMind</a:t>
            </a:r>
            <a:endParaRPr lang="en-US" sz="900" dirty="0"/>
          </a:p>
        </p:txBody>
      </p:sp>
      <p:sp>
        <p:nvSpPr>
          <p:cNvPr id="20" name="Text 17"/>
          <p:cNvSpPr txBox="1"/>
          <p:nvPr/>
        </p:nvSpPr>
        <p:spPr>
          <a:xfrm>
            <a:off x="8988552" y="6510528"/>
            <a:ext cx="2743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1274552" cy="457200"/>
          </a:xfrm>
          <a:prstGeom prst="rect">
            <a:avLst/>
          </a:prstGeom>
          <a:noFill/>
          <a:ln/>
        </p:spPr>
        <p:txBody>
          <a:bodyPr wrap="square" lIns="0" tIns="0" rIns="0" bIns="0" rtlCol="0" anchor="ctr"/>
          <a:lstStyle/>
          <a:p>
            <a:pPr rtl="1" algn="r" indent="0" marL="0">
              <a:buNone/>
            </a:pPr>
            <a:r>
              <a:rPr lang="en-US" sz="3400" b="1" dirty="0">
                <a:solidFill>
                  <a:srgbClr val="1B2A4A"/>
                </a:solidFill>
                <a:latin typeface="Calibri" pitchFamily="34" charset="0"/>
                <a:ea typeface="Calibri" pitchFamily="34" charset="-122"/>
                <a:cs typeface="Calibri" pitchFamily="34" charset="-120"/>
              </a:rPr>
              <a:t>המודל העסקי</a:t>
            </a:r>
            <a:endParaRPr lang="en-US" sz="3400" dirty="0"/>
          </a:p>
        </p:txBody>
      </p:sp>
      <p:sp>
        <p:nvSpPr>
          <p:cNvPr id="3" name="Text 1"/>
          <p:cNvSpPr txBox="1"/>
          <p:nvPr/>
        </p:nvSpPr>
        <p:spPr>
          <a:xfrm>
            <a:off x="457200" y="777240"/>
            <a:ext cx="11274552" cy="320040"/>
          </a:xfrm>
          <a:prstGeom prst="rect">
            <a:avLst/>
          </a:prstGeom>
          <a:noFill/>
          <a:ln/>
        </p:spPr>
        <p:txBody>
          <a:bodyPr wrap="square" lIns="0" tIns="0" rIns="0" bIns="0" rtlCol="0" anchor="ctr"/>
          <a:lstStyle/>
          <a:p>
            <a:pPr rtl="1" algn="r" indent="0" marL="0">
              <a:buNone/>
            </a:pPr>
            <a:r>
              <a:rPr lang="en-US" sz="1300" b="1" dirty="0">
                <a:solidFill>
                  <a:srgbClr val="5A6472"/>
                </a:solidFill>
                <a:latin typeface="Calibri" pitchFamily="34" charset="0"/>
                <a:ea typeface="Calibri" pitchFamily="34" charset="-122"/>
                <a:cs typeface="Calibri" pitchFamily="34" charset="-120"/>
              </a:rPr>
              <a:t>קהל יעד: סטודנטים באוניברסיטאות ובמכללות   ·   משני: מוסדות אקדמיים</a:t>
            </a:r>
            <a:endParaRPr lang="en-US" sz="1300" dirty="0"/>
          </a:p>
        </p:txBody>
      </p:sp>
      <p:sp>
        <p:nvSpPr>
          <p:cNvPr id="4" name="Text 2"/>
          <p:cNvSpPr txBox="1"/>
          <p:nvPr/>
        </p:nvSpPr>
        <p:spPr>
          <a:xfrm>
            <a:off x="457200" y="1115568"/>
            <a:ext cx="11274552" cy="320040"/>
          </a:xfrm>
          <a:prstGeom prst="rect">
            <a:avLst/>
          </a:prstGeom>
          <a:noFill/>
          <a:ln/>
        </p:spPr>
        <p:txBody>
          <a:bodyPr wrap="square" lIns="0" tIns="0" rIns="0" bIns="0" rtlCol="0" anchor="ctr"/>
          <a:lstStyle/>
          <a:p>
            <a:pPr rtl="1" algn="r" indent="0" marL="0">
              <a:buNone/>
            </a:pPr>
            <a:r>
              <a:rPr lang="en-US" sz="1150" dirty="0">
                <a:solidFill>
                  <a:srgbClr val="5A6472"/>
                </a:solidFill>
                <a:latin typeface="Calibri" pitchFamily="34" charset="0"/>
                <a:ea typeface="Calibri" pitchFamily="34" charset="-122"/>
                <a:cs typeface="Calibri" pitchFamily="34" charset="-120"/>
              </a:rPr>
              <a:t>מתחרים: ChatGPT · עוזרי AI כלליים · כלי Chat-with-PDF   |   בידול: CrewAI Agent · RAG · Grounding · Source Tracking · Document Isolation · Evals</a:t>
            </a:r>
            <a:endParaRPr lang="en-US" sz="1150" dirty="0"/>
          </a:p>
        </p:txBody>
      </p:sp>
      <p:sp>
        <p:nvSpPr>
          <p:cNvPr id="5" name="Shape 3"/>
          <p:cNvSpPr/>
          <p:nvPr/>
        </p:nvSpPr>
        <p:spPr>
          <a:xfrm>
            <a:off x="4357116" y="1600200"/>
            <a:ext cx="3474720" cy="457200"/>
          </a:xfrm>
          <a:prstGeom prst="roundRect">
            <a:avLst>
              <a:gd name="adj" fmla="val 18000"/>
            </a:avLst>
          </a:prstGeom>
          <a:solidFill>
            <a:srgbClr val="D9A441"/>
          </a:solidFill>
          <a:ln/>
          <a:effectLst>
            <a:outerShdw sx="100000" sy="100000" kx="0" ky="0" algn="bl" rotWithShape="0" blurRad="101600" dist="25400" dir="5400000">
              <a:srgbClr val="1B2A4A">
                <a:alpha val="12000"/>
              </a:srgbClr>
            </a:outerShdw>
          </a:effectLst>
        </p:spPr>
      </p:sp>
      <p:sp>
        <p:nvSpPr>
          <p:cNvPr id="6" name="Text 4"/>
          <p:cNvSpPr txBox="1"/>
          <p:nvPr/>
        </p:nvSpPr>
        <p:spPr>
          <a:xfrm>
            <a:off x="4357116" y="1600200"/>
            <a:ext cx="3474720" cy="457200"/>
          </a:xfrm>
          <a:prstGeom prst="rect">
            <a:avLst/>
          </a:prstGeom>
          <a:noFill/>
          <a:ln/>
        </p:spPr>
        <p:txBody>
          <a:bodyPr wrap="square" lIns="0" tIns="0" rIns="0" bIns="0" rtlCol="0" anchor="ctr"/>
          <a:lstStyle/>
          <a:p>
            <a:pPr rtl="1" algn="ctr" indent="0" marL="0">
              <a:buNone/>
            </a:pPr>
            <a:r>
              <a:rPr lang="en-US" sz="1300" b="1" dirty="0">
                <a:solidFill>
                  <a:srgbClr val="1B2A4A"/>
                </a:solidFill>
                <a:latin typeface="Calibri" pitchFamily="34" charset="0"/>
                <a:ea typeface="Calibri" pitchFamily="34" charset="-122"/>
                <a:cs typeface="Calibri" pitchFamily="34" charset="-120"/>
              </a:rPr>
              <a:t>מודל תמחור מוצע · Proposed Pricing</a:t>
            </a:r>
            <a:endParaRPr lang="en-US" sz="1300" dirty="0"/>
          </a:p>
        </p:txBody>
      </p:sp>
      <p:sp>
        <p:nvSpPr>
          <p:cNvPr id="7" name="Shape 5"/>
          <p:cNvSpPr/>
          <p:nvPr/>
        </p:nvSpPr>
        <p:spPr>
          <a:xfrm>
            <a:off x="457200" y="2286000"/>
            <a:ext cx="3636264" cy="3566160"/>
          </a:xfrm>
          <a:prstGeom prst="roundRect">
            <a:avLst>
              <a:gd name="adj" fmla="val 2308"/>
            </a:avLst>
          </a:prstGeom>
          <a:solidFill>
            <a:srgbClr val="F5F7FA"/>
          </a:solidFill>
          <a:ln/>
          <a:effectLst>
            <a:outerShdw sx="100000" sy="100000" kx="0" ky="0" algn="bl" rotWithShape="0" blurRad="101600" dist="25400" dir="5400000">
              <a:srgbClr val="1B2A4A">
                <a:alpha val="12000"/>
              </a:srgbClr>
            </a:outerShdw>
          </a:effectLst>
        </p:spPr>
      </p:sp>
      <p:sp>
        <p:nvSpPr>
          <p:cNvPr id="8" name="Text 6"/>
          <p:cNvSpPr txBox="1"/>
          <p:nvPr/>
        </p:nvSpPr>
        <p:spPr>
          <a:xfrm>
            <a:off x="457200" y="2468880"/>
            <a:ext cx="3636264" cy="365760"/>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Free</a:t>
            </a:r>
            <a:endParaRPr lang="en-US" sz="1600" dirty="0"/>
          </a:p>
        </p:txBody>
      </p:sp>
      <p:sp>
        <p:nvSpPr>
          <p:cNvPr id="9" name="Text 7"/>
          <p:cNvSpPr txBox="1"/>
          <p:nvPr/>
        </p:nvSpPr>
        <p:spPr>
          <a:xfrm>
            <a:off x="457200" y="2880360"/>
            <a:ext cx="3636264" cy="502920"/>
          </a:xfrm>
          <a:prstGeom prst="rect">
            <a:avLst/>
          </a:prstGeom>
          <a:noFill/>
          <a:ln/>
        </p:spPr>
        <p:txBody>
          <a:bodyPr wrap="square" lIns="0" tIns="0" rIns="0" bIns="0" rtlCol="0" anchor="ctr"/>
          <a:lstStyle/>
          <a:p>
            <a:pPr algn="ctr" indent="0" marL="0">
              <a:buNone/>
            </a:pPr>
            <a:r>
              <a:rPr lang="en-US" sz="2000" b="1" dirty="0">
                <a:solidFill>
                  <a:srgbClr val="1B2A4A"/>
                </a:solidFill>
                <a:latin typeface="Calibri" pitchFamily="34" charset="0"/>
                <a:ea typeface="Calibri" pitchFamily="34" charset="-122"/>
                <a:cs typeface="Calibri" pitchFamily="34" charset="-120"/>
              </a:rPr>
              <a:t>₪0</a:t>
            </a:r>
            <a:endParaRPr lang="en-US" sz="2000" dirty="0"/>
          </a:p>
        </p:txBody>
      </p:sp>
      <p:sp>
        <p:nvSpPr>
          <p:cNvPr id="10" name="Text 8"/>
          <p:cNvSpPr txBox="1"/>
          <p:nvPr/>
        </p:nvSpPr>
        <p:spPr>
          <a:xfrm>
            <a:off x="685800" y="3520440"/>
            <a:ext cx="3179064" cy="365760"/>
          </a:xfrm>
          <a:prstGeom prst="rect">
            <a:avLst/>
          </a:prstGeom>
          <a:noFill/>
          <a:ln/>
        </p:spPr>
        <p:txBody>
          <a:bodyPr wrap="square" lIns="0" tIns="0" rIns="0" bIns="0" rtlCol="0" anchor="ctr"/>
          <a:lstStyle/>
          <a:p>
            <a:pPr rtl="1" algn="r" indent="0" marL="0">
              <a:buNone/>
            </a:pPr>
            <a:r>
              <a:rPr lang="en-US" sz="1150" dirty="0">
                <a:solidFill>
                  <a:srgbClr val="5A6472"/>
                </a:solidFill>
                <a:latin typeface="Calibri" pitchFamily="34" charset="0"/>
                <a:ea typeface="Calibri" pitchFamily="34" charset="-122"/>
                <a:cs typeface="Calibri" pitchFamily="34" charset="-120"/>
              </a:rPr>
              <a:t>•  עיבוד PDF מוגבל</a:t>
            </a:r>
            <a:endParaRPr lang="en-US" sz="1150" dirty="0"/>
          </a:p>
        </p:txBody>
      </p:sp>
      <p:sp>
        <p:nvSpPr>
          <p:cNvPr id="11" name="Text 9"/>
          <p:cNvSpPr txBox="1"/>
          <p:nvPr/>
        </p:nvSpPr>
        <p:spPr>
          <a:xfrm>
            <a:off x="685800" y="4023360"/>
            <a:ext cx="3179064" cy="365760"/>
          </a:xfrm>
          <a:prstGeom prst="rect">
            <a:avLst/>
          </a:prstGeom>
          <a:noFill/>
          <a:ln/>
        </p:spPr>
        <p:txBody>
          <a:bodyPr wrap="square" lIns="0" tIns="0" rIns="0" bIns="0" rtlCol="0" anchor="ctr"/>
          <a:lstStyle/>
          <a:p>
            <a:pPr rtl="1" algn="r" indent="0" marL="0">
              <a:buNone/>
            </a:pPr>
            <a:r>
              <a:rPr lang="en-US" sz="1150" dirty="0">
                <a:solidFill>
                  <a:srgbClr val="5A6472"/>
                </a:solidFill>
                <a:latin typeface="Calibri" pitchFamily="34" charset="0"/>
                <a:ea typeface="Calibri" pitchFamily="34" charset="-122"/>
                <a:cs typeface="Calibri" pitchFamily="34" charset="-120"/>
              </a:rPr>
              <a:t>•  מספר שאלות מוגבל</a:t>
            </a:r>
            <a:endParaRPr lang="en-US" sz="1150" dirty="0"/>
          </a:p>
        </p:txBody>
      </p:sp>
      <p:sp>
        <p:nvSpPr>
          <p:cNvPr id="12" name="Text 10"/>
          <p:cNvSpPr txBox="1"/>
          <p:nvPr/>
        </p:nvSpPr>
        <p:spPr>
          <a:xfrm>
            <a:off x="685800" y="4526280"/>
            <a:ext cx="3179064" cy="365760"/>
          </a:xfrm>
          <a:prstGeom prst="rect">
            <a:avLst/>
          </a:prstGeom>
          <a:noFill/>
          <a:ln/>
        </p:spPr>
        <p:txBody>
          <a:bodyPr wrap="square" lIns="0" tIns="0" rIns="0" bIns="0" rtlCol="0" anchor="ctr"/>
          <a:lstStyle/>
          <a:p>
            <a:pPr rtl="1" algn="r" indent="0" marL="0">
              <a:buNone/>
            </a:pPr>
            <a:r>
              <a:rPr lang="en-US" sz="1150" dirty="0">
                <a:solidFill>
                  <a:srgbClr val="5A6472"/>
                </a:solidFill>
                <a:latin typeface="Calibri" pitchFamily="34" charset="0"/>
                <a:ea typeface="Calibri" pitchFamily="34" charset="-122"/>
                <a:cs typeface="Calibri" pitchFamily="34" charset="-120"/>
              </a:rPr>
              <a:t>•  סיכום בסיסי</a:t>
            </a:r>
            <a:endParaRPr lang="en-US" sz="1150" dirty="0"/>
          </a:p>
        </p:txBody>
      </p:sp>
      <p:sp>
        <p:nvSpPr>
          <p:cNvPr id="13" name="Shape 11"/>
          <p:cNvSpPr/>
          <p:nvPr/>
        </p:nvSpPr>
        <p:spPr>
          <a:xfrm>
            <a:off x="4276344" y="2286000"/>
            <a:ext cx="3636264" cy="3566160"/>
          </a:xfrm>
          <a:prstGeom prst="roundRect">
            <a:avLst>
              <a:gd name="adj" fmla="val 2308"/>
            </a:avLst>
          </a:prstGeom>
          <a:solidFill>
            <a:srgbClr val="1B2A4A"/>
          </a:solidFill>
          <a:ln/>
          <a:effectLst>
            <a:outerShdw sx="100000" sy="100000" kx="0" ky="0" algn="bl" rotWithShape="0" blurRad="101600" dist="25400" dir="5400000">
              <a:srgbClr val="1B2A4A">
                <a:alpha val="12000"/>
              </a:srgbClr>
            </a:outerShdw>
          </a:effectLst>
        </p:spPr>
      </p:sp>
      <p:sp>
        <p:nvSpPr>
          <p:cNvPr id="14" name="Text 12"/>
          <p:cNvSpPr txBox="1"/>
          <p:nvPr/>
        </p:nvSpPr>
        <p:spPr>
          <a:xfrm>
            <a:off x="4276344" y="2468880"/>
            <a:ext cx="3636264"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Premium</a:t>
            </a:r>
            <a:endParaRPr lang="en-US" sz="1600" dirty="0"/>
          </a:p>
        </p:txBody>
      </p:sp>
      <p:sp>
        <p:nvSpPr>
          <p:cNvPr id="15" name="Text 13"/>
          <p:cNvSpPr txBox="1"/>
          <p:nvPr/>
        </p:nvSpPr>
        <p:spPr>
          <a:xfrm>
            <a:off x="4276344" y="2880360"/>
            <a:ext cx="3636264" cy="502920"/>
          </a:xfrm>
          <a:prstGeom prst="rect">
            <a:avLst/>
          </a:prstGeom>
          <a:noFill/>
          <a:ln/>
        </p:spPr>
        <p:txBody>
          <a:bodyPr wrap="square" lIns="0" tIns="0" rIns="0" bIns="0" rtlCol="0" anchor="ctr"/>
          <a:lstStyle/>
          <a:p>
            <a:pPr algn="ctr" indent="0" marL="0">
              <a:buNone/>
            </a:pPr>
            <a:r>
              <a:rPr lang="en-US" sz="2000" b="1" dirty="0">
                <a:solidFill>
                  <a:srgbClr val="D9A441"/>
                </a:solidFill>
                <a:latin typeface="Calibri" pitchFamily="34" charset="0"/>
                <a:ea typeface="Calibri" pitchFamily="34" charset="-122"/>
                <a:cs typeface="Calibri" pitchFamily="34" charset="-120"/>
              </a:rPr>
              <a:t>₪29–39 / חודש</a:t>
            </a:r>
            <a:endParaRPr lang="en-US" sz="2000" dirty="0"/>
          </a:p>
        </p:txBody>
      </p:sp>
      <p:sp>
        <p:nvSpPr>
          <p:cNvPr id="16" name="Text 14"/>
          <p:cNvSpPr txBox="1"/>
          <p:nvPr/>
        </p:nvSpPr>
        <p:spPr>
          <a:xfrm>
            <a:off x="4504944" y="3520440"/>
            <a:ext cx="3179064" cy="365760"/>
          </a:xfrm>
          <a:prstGeom prst="rect">
            <a:avLst/>
          </a:prstGeom>
          <a:noFill/>
          <a:ln/>
        </p:spPr>
        <p:txBody>
          <a:bodyPr wrap="square" lIns="0" tIns="0" rIns="0" bIns="0" rtlCol="0" anchor="ctr"/>
          <a:lstStyle/>
          <a:p>
            <a:pPr rtl="1" algn="r" indent="0" marL="0">
              <a:buNone/>
            </a:pPr>
            <a:r>
              <a:rPr lang="en-US" sz="1150" dirty="0">
                <a:solidFill>
                  <a:srgbClr val="E9EEF6"/>
                </a:solidFill>
                <a:latin typeface="Calibri" pitchFamily="34" charset="0"/>
                <a:ea typeface="Calibri" pitchFamily="34" charset="-122"/>
                <a:cs typeface="Calibri" pitchFamily="34" charset="-120"/>
              </a:rPr>
              <a:t>•  יותר מסמכים ושאלות</a:t>
            </a:r>
            <a:endParaRPr lang="en-US" sz="1150" dirty="0"/>
          </a:p>
        </p:txBody>
      </p:sp>
      <p:sp>
        <p:nvSpPr>
          <p:cNvPr id="17" name="Text 15"/>
          <p:cNvSpPr txBox="1"/>
          <p:nvPr/>
        </p:nvSpPr>
        <p:spPr>
          <a:xfrm>
            <a:off x="4504944" y="4023360"/>
            <a:ext cx="3179064" cy="365760"/>
          </a:xfrm>
          <a:prstGeom prst="rect">
            <a:avLst/>
          </a:prstGeom>
          <a:noFill/>
          <a:ln/>
        </p:spPr>
        <p:txBody>
          <a:bodyPr wrap="square" lIns="0" tIns="0" rIns="0" bIns="0" rtlCol="0" anchor="ctr"/>
          <a:lstStyle/>
          <a:p>
            <a:pPr rtl="1" algn="r" indent="0" marL="0">
              <a:buNone/>
            </a:pPr>
            <a:r>
              <a:rPr lang="en-US" sz="1150" dirty="0">
                <a:solidFill>
                  <a:srgbClr val="E9EEF6"/>
                </a:solidFill>
                <a:latin typeface="Calibri" pitchFamily="34" charset="0"/>
                <a:ea typeface="Calibri" pitchFamily="34" charset="-122"/>
                <a:cs typeface="Calibri" pitchFamily="34" charset="-120"/>
              </a:rPr>
              <a:t>•  סיכומים מלאים</a:t>
            </a:r>
            <a:endParaRPr lang="en-US" sz="1150" dirty="0"/>
          </a:p>
        </p:txBody>
      </p:sp>
      <p:sp>
        <p:nvSpPr>
          <p:cNvPr id="18" name="Text 16"/>
          <p:cNvSpPr txBox="1"/>
          <p:nvPr/>
        </p:nvSpPr>
        <p:spPr>
          <a:xfrm>
            <a:off x="4504944" y="4526280"/>
            <a:ext cx="3179064" cy="365760"/>
          </a:xfrm>
          <a:prstGeom prst="rect">
            <a:avLst/>
          </a:prstGeom>
          <a:noFill/>
          <a:ln/>
        </p:spPr>
        <p:txBody>
          <a:bodyPr wrap="square" lIns="0" tIns="0" rIns="0" bIns="0" rtlCol="0" anchor="ctr"/>
          <a:lstStyle/>
          <a:p>
            <a:pPr rtl="1" algn="r" indent="0" marL="0">
              <a:buNone/>
            </a:pPr>
            <a:r>
              <a:rPr lang="en-US" sz="1150" dirty="0">
                <a:solidFill>
                  <a:srgbClr val="E9EEF6"/>
                </a:solidFill>
                <a:latin typeface="Calibri" pitchFamily="34" charset="0"/>
                <a:ea typeface="Calibri" pitchFamily="34" charset="-122"/>
                <a:cs typeface="Calibri" pitchFamily="34" charset="-120"/>
              </a:rPr>
              <a:t>•  כלי לימוד עתידיים</a:t>
            </a:r>
            <a:endParaRPr lang="en-US" sz="1150" dirty="0"/>
          </a:p>
        </p:txBody>
      </p:sp>
      <p:sp>
        <p:nvSpPr>
          <p:cNvPr id="19" name="Shape 17"/>
          <p:cNvSpPr/>
          <p:nvPr/>
        </p:nvSpPr>
        <p:spPr>
          <a:xfrm>
            <a:off x="8095488" y="2286000"/>
            <a:ext cx="3636264" cy="3566160"/>
          </a:xfrm>
          <a:prstGeom prst="roundRect">
            <a:avLst>
              <a:gd name="adj" fmla="val 2308"/>
            </a:avLst>
          </a:prstGeom>
          <a:solidFill>
            <a:srgbClr val="F5F7FA"/>
          </a:solidFill>
          <a:ln/>
          <a:effectLst>
            <a:outerShdw sx="100000" sy="100000" kx="0" ky="0" algn="bl" rotWithShape="0" blurRad="101600" dist="25400" dir="5400000">
              <a:srgbClr val="1B2A4A">
                <a:alpha val="12000"/>
              </a:srgbClr>
            </a:outerShdw>
          </a:effectLst>
        </p:spPr>
      </p:sp>
      <p:sp>
        <p:nvSpPr>
          <p:cNvPr id="20" name="Text 18"/>
          <p:cNvSpPr txBox="1"/>
          <p:nvPr/>
        </p:nvSpPr>
        <p:spPr>
          <a:xfrm>
            <a:off x="8095488" y="2468880"/>
            <a:ext cx="3636264" cy="365760"/>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Institutional</a:t>
            </a:r>
            <a:endParaRPr lang="en-US" sz="1600" dirty="0"/>
          </a:p>
        </p:txBody>
      </p:sp>
      <p:sp>
        <p:nvSpPr>
          <p:cNvPr id="21" name="Text 19"/>
          <p:cNvSpPr txBox="1"/>
          <p:nvPr/>
        </p:nvSpPr>
        <p:spPr>
          <a:xfrm>
            <a:off x="8095488" y="2880360"/>
            <a:ext cx="3636264" cy="502920"/>
          </a:xfrm>
          <a:prstGeom prst="rect">
            <a:avLst/>
          </a:prstGeom>
          <a:noFill/>
          <a:ln/>
        </p:spPr>
        <p:txBody>
          <a:bodyPr wrap="square" lIns="0" tIns="0" rIns="0" bIns="0" rtlCol="0" anchor="ctr"/>
          <a:lstStyle/>
          <a:p>
            <a:pPr algn="ctr" indent="0" marL="0">
              <a:buNone/>
            </a:pPr>
            <a:r>
              <a:rPr lang="en-US" sz="2000" b="1" dirty="0">
                <a:solidFill>
                  <a:srgbClr val="1B2A4A"/>
                </a:solidFill>
                <a:latin typeface="Calibri" pitchFamily="34" charset="0"/>
                <a:ea typeface="Calibri" pitchFamily="34" charset="-122"/>
                <a:cs typeface="Calibri" pitchFamily="34" charset="-120"/>
              </a:rPr>
              <a:t>Custom Pricing</a:t>
            </a:r>
            <a:endParaRPr lang="en-US" sz="2000" dirty="0"/>
          </a:p>
        </p:txBody>
      </p:sp>
      <p:sp>
        <p:nvSpPr>
          <p:cNvPr id="22" name="Text 20"/>
          <p:cNvSpPr txBox="1"/>
          <p:nvPr/>
        </p:nvSpPr>
        <p:spPr>
          <a:xfrm>
            <a:off x="8324088" y="3520440"/>
            <a:ext cx="3179064" cy="365760"/>
          </a:xfrm>
          <a:prstGeom prst="rect">
            <a:avLst/>
          </a:prstGeom>
          <a:noFill/>
          <a:ln/>
        </p:spPr>
        <p:txBody>
          <a:bodyPr wrap="square" lIns="0" tIns="0" rIns="0" bIns="0" rtlCol="0" anchor="ctr"/>
          <a:lstStyle/>
          <a:p>
            <a:pPr rtl="1" algn="r" indent="0" marL="0">
              <a:buNone/>
            </a:pPr>
            <a:r>
              <a:rPr lang="en-US" sz="1150" dirty="0">
                <a:solidFill>
                  <a:srgbClr val="5A6472"/>
                </a:solidFill>
                <a:latin typeface="Calibri" pitchFamily="34" charset="0"/>
                <a:ea typeface="Calibri" pitchFamily="34" charset="-122"/>
                <a:cs typeface="Calibri" pitchFamily="34" charset="-120"/>
              </a:rPr>
              <a:t>•  לפי מספר סטודנטים</a:t>
            </a:r>
            <a:endParaRPr lang="en-US" sz="1150" dirty="0"/>
          </a:p>
        </p:txBody>
      </p:sp>
      <p:sp>
        <p:nvSpPr>
          <p:cNvPr id="23" name="Text 21"/>
          <p:cNvSpPr txBox="1"/>
          <p:nvPr/>
        </p:nvSpPr>
        <p:spPr>
          <a:xfrm>
            <a:off x="8324088" y="4023360"/>
            <a:ext cx="3179064" cy="365760"/>
          </a:xfrm>
          <a:prstGeom prst="rect">
            <a:avLst/>
          </a:prstGeom>
          <a:noFill/>
          <a:ln/>
        </p:spPr>
        <p:txBody>
          <a:bodyPr wrap="square" lIns="0" tIns="0" rIns="0" bIns="0" rtlCol="0" anchor="ctr"/>
          <a:lstStyle/>
          <a:p>
            <a:pPr rtl="1" algn="r" indent="0" marL="0">
              <a:buNone/>
            </a:pPr>
            <a:r>
              <a:rPr lang="en-US" sz="1150" dirty="0">
                <a:solidFill>
                  <a:srgbClr val="5A6472"/>
                </a:solidFill>
                <a:latin typeface="Calibri" pitchFamily="34" charset="0"/>
                <a:ea typeface="Calibri" pitchFamily="34" charset="-122"/>
                <a:cs typeface="Calibri" pitchFamily="34" charset="-120"/>
              </a:rPr>
              <a:t>•  היקף שימוש</a:t>
            </a:r>
            <a:endParaRPr lang="en-US" sz="1150" dirty="0"/>
          </a:p>
        </p:txBody>
      </p:sp>
      <p:sp>
        <p:nvSpPr>
          <p:cNvPr id="24" name="Text 22"/>
          <p:cNvSpPr txBox="1"/>
          <p:nvPr/>
        </p:nvSpPr>
        <p:spPr>
          <a:xfrm>
            <a:off x="8324088" y="4526280"/>
            <a:ext cx="3179064" cy="365760"/>
          </a:xfrm>
          <a:prstGeom prst="rect">
            <a:avLst/>
          </a:prstGeom>
          <a:noFill/>
          <a:ln/>
        </p:spPr>
        <p:txBody>
          <a:bodyPr wrap="square" lIns="0" tIns="0" rIns="0" bIns="0" rtlCol="0" anchor="ctr"/>
          <a:lstStyle/>
          <a:p>
            <a:pPr rtl="1" algn="r" indent="0" marL="0">
              <a:buNone/>
            </a:pPr>
            <a:r>
              <a:rPr lang="en-US" sz="1150" dirty="0">
                <a:solidFill>
                  <a:srgbClr val="5A6472"/>
                </a:solidFill>
                <a:latin typeface="Calibri" pitchFamily="34" charset="0"/>
                <a:ea typeface="Calibri" pitchFamily="34" charset="-122"/>
                <a:cs typeface="Calibri" pitchFamily="34" charset="-120"/>
              </a:rPr>
              <a:t>•  דרישות מוסדיות</a:t>
            </a:r>
            <a:endParaRPr lang="en-US" sz="1150" dirty="0"/>
          </a:p>
        </p:txBody>
      </p:sp>
      <p:sp>
        <p:nvSpPr>
          <p:cNvPr id="26" name="Text 23"/>
          <p:cNvSpPr txBox="1"/>
          <p:nvPr/>
        </p:nvSpPr>
        <p:spPr>
          <a:xfrm>
            <a:off x="457200" y="6510528"/>
            <a:ext cx="2743200" cy="274320"/>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ea typeface="Calibri" pitchFamily="34" charset="-122"/>
                <a:cs typeface="Calibri" pitchFamily="34" charset="-120"/>
              </a:rPr>
              <a:t>CourseMind</a:t>
            </a:r>
            <a:endParaRPr lang="en-US" sz="900" dirty="0"/>
          </a:p>
        </p:txBody>
      </p:sp>
      <p:sp>
        <p:nvSpPr>
          <p:cNvPr id="27" name="Text 24"/>
          <p:cNvSpPr txBox="1"/>
          <p:nvPr/>
        </p:nvSpPr>
        <p:spPr>
          <a:xfrm>
            <a:off x="8988552" y="6510528"/>
            <a:ext cx="2743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457200" y="365760"/>
            <a:ext cx="11274552" cy="731520"/>
          </a:xfrm>
          <a:prstGeom prst="rect">
            <a:avLst/>
          </a:prstGeom>
          <a:noFill/>
          <a:ln/>
        </p:spPr>
        <p:txBody>
          <a:bodyPr wrap="square" lIns="0" tIns="0" rIns="0" bIns="0" rtlCol="0" anchor="ctr"/>
          <a:lstStyle/>
          <a:p>
            <a:pPr rtl="1" algn="r" indent="0" marL="0">
              <a:buNone/>
            </a:pPr>
            <a:r>
              <a:rPr lang="en-US" sz="3400" b="1" dirty="0">
                <a:solidFill>
                  <a:srgbClr val="FFFFFF"/>
                </a:solidFill>
                <a:latin typeface="Calibri" pitchFamily="34" charset="0"/>
                <a:ea typeface="Calibri" pitchFamily="34" charset="-122"/>
                <a:cs typeface="Calibri" pitchFamily="34" charset="-120"/>
              </a:rPr>
              <a:t>עתיד + סיכום</a:t>
            </a:r>
            <a:endParaRPr lang="en-US" sz="3400" dirty="0"/>
          </a:p>
        </p:txBody>
      </p:sp>
      <p:sp>
        <p:nvSpPr>
          <p:cNvPr id="3" name="Shape 1"/>
          <p:cNvSpPr/>
          <p:nvPr/>
        </p:nvSpPr>
        <p:spPr>
          <a:xfrm>
            <a:off x="1196035" y="1303020"/>
            <a:ext cx="777240" cy="777240"/>
          </a:xfrm>
          <a:prstGeom prst="ellipse">
            <a:avLst/>
          </a:prstGeom>
          <a:solidFill>
            <a:srgbClr val="D9A441"/>
          </a:solidFill>
          <a:ln/>
          <a:effectLst>
            <a:outerShdw sx="100000" sy="100000" kx="0" ky="0" algn="bl" rotWithShape="0" blurRad="76200" dist="25400" dir="5400000">
              <a:srgbClr val="1B2A4A">
                <a:alpha val="25000"/>
              </a:srgbClr>
            </a:outerShdw>
          </a:effectLst>
        </p:spPr>
      </p:sp>
      <p:pic>
        <p:nvPicPr>
          <p:cNvPr id="4" name="Image 0" descr="comment icon">    </p:cNvPr>
          <p:cNvPicPr>
            <a:picLocks noChangeAspect="1"/>
          </p:cNvPicPr>
          <p:nvPr/>
        </p:nvPicPr>
        <p:blipFill>
          <a:blip r:embed="rId1"/>
          <a:stretch>
            <a:fillRect/>
          </a:stretch>
        </p:blipFill>
        <p:spPr>
          <a:xfrm>
            <a:off x="1304849" y="1411834"/>
            <a:ext cx="559613" cy="559613"/>
          </a:xfrm>
          <a:prstGeom prst="rect">
            <a:avLst/>
          </a:prstGeom>
        </p:spPr>
      </p:pic>
      <p:sp>
        <p:nvSpPr>
          <p:cNvPr id="5" name="Text 2"/>
          <p:cNvSpPr txBox="1"/>
          <p:nvPr/>
        </p:nvSpPr>
        <p:spPr>
          <a:xfrm>
            <a:off x="548640" y="2148840"/>
            <a:ext cx="2072030" cy="365760"/>
          </a:xfrm>
          <a:prstGeom prst="rect">
            <a:avLst/>
          </a:prstGeom>
          <a:noFill/>
          <a:ln/>
        </p:spPr>
        <p:txBody>
          <a:bodyPr wrap="square" lIns="0" tIns="0" rIns="0" bIns="0" rtlCol="0" anchor="ctr"/>
          <a:lstStyle/>
          <a:p>
            <a:pPr algn="ctr" indent="0" marL="0">
              <a:buNone/>
            </a:pPr>
            <a:r>
              <a:rPr lang="en-US" sz="1200" b="1" dirty="0">
                <a:solidFill>
                  <a:srgbClr val="E9EEF6"/>
                </a:solidFill>
                <a:latin typeface="Calibri" pitchFamily="34" charset="0"/>
                <a:ea typeface="Calibri" pitchFamily="34" charset="-122"/>
                <a:cs typeface="Calibri" pitchFamily="34" charset="-120"/>
              </a:rPr>
              <a:t>Quiz Generator</a:t>
            </a:r>
            <a:endParaRPr lang="en-US" sz="1200" dirty="0"/>
          </a:p>
        </p:txBody>
      </p:sp>
      <p:sp>
        <p:nvSpPr>
          <p:cNvPr id="6" name="Shape 3"/>
          <p:cNvSpPr/>
          <p:nvPr/>
        </p:nvSpPr>
        <p:spPr>
          <a:xfrm>
            <a:off x="3450946" y="1303020"/>
            <a:ext cx="777240" cy="777240"/>
          </a:xfrm>
          <a:prstGeom prst="ellipse">
            <a:avLst/>
          </a:prstGeom>
          <a:solidFill>
            <a:srgbClr val="D9A441"/>
          </a:solidFill>
          <a:ln/>
          <a:effectLst>
            <a:outerShdw sx="100000" sy="100000" kx="0" ky="0" algn="bl" rotWithShape="0" blurRad="76200" dist="25400" dir="5400000">
              <a:srgbClr val="1B2A4A">
                <a:alpha val="25000"/>
              </a:srgbClr>
            </a:outerShdw>
          </a:effectLst>
        </p:spPr>
      </p:sp>
      <p:pic>
        <p:nvPicPr>
          <p:cNvPr id="7" name="Image 1" descr="search icon">    </p:cNvPr>
          <p:cNvPicPr>
            <a:picLocks noChangeAspect="1"/>
          </p:cNvPicPr>
          <p:nvPr/>
        </p:nvPicPr>
        <p:blipFill>
          <a:blip r:embed="rId2"/>
          <a:stretch>
            <a:fillRect/>
          </a:stretch>
        </p:blipFill>
        <p:spPr>
          <a:xfrm>
            <a:off x="3559759" y="1411834"/>
            <a:ext cx="559613" cy="559613"/>
          </a:xfrm>
          <a:prstGeom prst="rect">
            <a:avLst/>
          </a:prstGeom>
        </p:spPr>
      </p:pic>
      <p:sp>
        <p:nvSpPr>
          <p:cNvPr id="8" name="Text 4"/>
          <p:cNvSpPr txBox="1"/>
          <p:nvPr/>
        </p:nvSpPr>
        <p:spPr>
          <a:xfrm>
            <a:off x="2803550" y="2148840"/>
            <a:ext cx="2072030" cy="365760"/>
          </a:xfrm>
          <a:prstGeom prst="rect">
            <a:avLst/>
          </a:prstGeom>
          <a:noFill/>
          <a:ln/>
        </p:spPr>
        <p:txBody>
          <a:bodyPr wrap="square" lIns="0" tIns="0" rIns="0" bIns="0" rtlCol="0" anchor="ctr"/>
          <a:lstStyle/>
          <a:p>
            <a:pPr algn="ctr" indent="0" marL="0">
              <a:buNone/>
            </a:pPr>
            <a:r>
              <a:rPr lang="en-US" sz="1200" b="1" dirty="0">
                <a:solidFill>
                  <a:srgbClr val="E9EEF6"/>
                </a:solidFill>
                <a:latin typeface="Calibri" pitchFamily="34" charset="0"/>
                <a:ea typeface="Calibri" pitchFamily="34" charset="-122"/>
                <a:cs typeface="Calibri" pitchFamily="34" charset="-120"/>
              </a:rPr>
              <a:t>OCR / Vision</a:t>
            </a:r>
            <a:endParaRPr lang="en-US" sz="1200" dirty="0"/>
          </a:p>
        </p:txBody>
      </p:sp>
      <p:sp>
        <p:nvSpPr>
          <p:cNvPr id="9" name="Shape 5"/>
          <p:cNvSpPr/>
          <p:nvPr/>
        </p:nvSpPr>
        <p:spPr>
          <a:xfrm>
            <a:off x="5705856" y="1303020"/>
            <a:ext cx="777240" cy="777240"/>
          </a:xfrm>
          <a:prstGeom prst="ellipse">
            <a:avLst/>
          </a:prstGeom>
          <a:solidFill>
            <a:srgbClr val="D9A441"/>
          </a:solidFill>
          <a:ln/>
          <a:effectLst>
            <a:outerShdw sx="100000" sy="100000" kx="0" ky="0" algn="bl" rotWithShape="0" blurRad="76200" dist="25400" dir="5400000">
              <a:srgbClr val="1B2A4A">
                <a:alpha val="25000"/>
              </a:srgbClr>
            </a:outerShdw>
          </a:effectLst>
        </p:spPr>
      </p:sp>
      <p:pic>
        <p:nvPicPr>
          <p:cNvPr id="10" name="Image 2" descr="robot icon">    </p:cNvPr>
          <p:cNvPicPr>
            <a:picLocks noChangeAspect="1"/>
          </p:cNvPicPr>
          <p:nvPr/>
        </p:nvPicPr>
        <p:blipFill>
          <a:blip r:embed="rId3"/>
          <a:stretch>
            <a:fillRect/>
          </a:stretch>
        </p:blipFill>
        <p:spPr>
          <a:xfrm>
            <a:off x="5814670" y="1411834"/>
            <a:ext cx="559613" cy="559613"/>
          </a:xfrm>
          <a:prstGeom prst="rect">
            <a:avLst/>
          </a:prstGeom>
        </p:spPr>
      </p:pic>
      <p:sp>
        <p:nvSpPr>
          <p:cNvPr id="11" name="Text 6"/>
          <p:cNvSpPr txBox="1"/>
          <p:nvPr/>
        </p:nvSpPr>
        <p:spPr>
          <a:xfrm>
            <a:off x="5058461" y="2148840"/>
            <a:ext cx="2072030" cy="365760"/>
          </a:xfrm>
          <a:prstGeom prst="rect">
            <a:avLst/>
          </a:prstGeom>
          <a:noFill/>
          <a:ln/>
        </p:spPr>
        <p:txBody>
          <a:bodyPr wrap="square" lIns="0" tIns="0" rIns="0" bIns="0" rtlCol="0" anchor="ctr"/>
          <a:lstStyle/>
          <a:p>
            <a:pPr algn="ctr" indent="0" marL="0">
              <a:buNone/>
            </a:pPr>
            <a:r>
              <a:rPr lang="en-US" sz="1200" b="1" dirty="0">
                <a:solidFill>
                  <a:srgbClr val="E9EEF6"/>
                </a:solidFill>
                <a:latin typeface="Calibri" pitchFamily="34" charset="0"/>
                <a:ea typeface="Calibri" pitchFamily="34" charset="-122"/>
                <a:cs typeface="Calibri" pitchFamily="34" charset="-120"/>
              </a:rPr>
              <a:t>Multi-Agent</a:t>
            </a:r>
            <a:endParaRPr lang="en-US" sz="1200" dirty="0"/>
          </a:p>
        </p:txBody>
      </p:sp>
      <p:sp>
        <p:nvSpPr>
          <p:cNvPr id="12" name="Shape 7"/>
          <p:cNvSpPr/>
          <p:nvPr/>
        </p:nvSpPr>
        <p:spPr>
          <a:xfrm>
            <a:off x="7960766" y="1303020"/>
            <a:ext cx="777240" cy="777240"/>
          </a:xfrm>
          <a:prstGeom prst="ellipse">
            <a:avLst/>
          </a:prstGeom>
          <a:solidFill>
            <a:srgbClr val="D9A441"/>
          </a:solidFill>
          <a:ln/>
          <a:effectLst>
            <a:outerShdw sx="100000" sy="100000" kx="0" ky="0" algn="bl" rotWithShape="0" blurRad="76200" dist="25400" dir="5400000">
              <a:srgbClr val="1B2A4A">
                <a:alpha val="25000"/>
              </a:srgbClr>
            </a:outerShdw>
          </a:effectLst>
        </p:spPr>
      </p:sp>
      <p:pic>
        <p:nvPicPr>
          <p:cNvPr id="13" name="Image 3" descr="file icon">    </p:cNvPr>
          <p:cNvPicPr>
            <a:picLocks noChangeAspect="1"/>
          </p:cNvPicPr>
          <p:nvPr/>
        </p:nvPicPr>
        <p:blipFill>
          <a:blip r:embed="rId4"/>
          <a:stretch>
            <a:fillRect/>
          </a:stretch>
        </p:blipFill>
        <p:spPr>
          <a:xfrm>
            <a:off x="8069580" y="1411834"/>
            <a:ext cx="559613" cy="559613"/>
          </a:xfrm>
          <a:prstGeom prst="rect">
            <a:avLst/>
          </a:prstGeom>
        </p:spPr>
      </p:pic>
      <p:sp>
        <p:nvSpPr>
          <p:cNvPr id="14" name="Text 8"/>
          <p:cNvSpPr txBox="1"/>
          <p:nvPr/>
        </p:nvSpPr>
        <p:spPr>
          <a:xfrm>
            <a:off x="7313371" y="2148840"/>
            <a:ext cx="2072030" cy="365760"/>
          </a:xfrm>
          <a:prstGeom prst="rect">
            <a:avLst/>
          </a:prstGeom>
          <a:noFill/>
          <a:ln/>
        </p:spPr>
        <p:txBody>
          <a:bodyPr wrap="square" lIns="0" tIns="0" rIns="0" bIns="0" rtlCol="0" anchor="ctr"/>
          <a:lstStyle/>
          <a:p>
            <a:pPr algn="ctr" indent="0" marL="0">
              <a:buNone/>
            </a:pPr>
            <a:r>
              <a:rPr lang="en-US" sz="1200" b="1" dirty="0">
                <a:solidFill>
                  <a:srgbClr val="E9EEF6"/>
                </a:solidFill>
                <a:latin typeface="Calibri" pitchFamily="34" charset="0"/>
                <a:ea typeface="Calibri" pitchFamily="34" charset="-122"/>
                <a:cs typeface="Calibri" pitchFamily="34" charset="-120"/>
              </a:rPr>
              <a:t>More Formats</a:t>
            </a:r>
            <a:endParaRPr lang="en-US" sz="1200" dirty="0"/>
          </a:p>
        </p:txBody>
      </p:sp>
      <p:sp>
        <p:nvSpPr>
          <p:cNvPr id="15" name="Shape 9"/>
          <p:cNvSpPr/>
          <p:nvPr/>
        </p:nvSpPr>
        <p:spPr>
          <a:xfrm>
            <a:off x="10215677" y="1303020"/>
            <a:ext cx="777240" cy="777240"/>
          </a:xfrm>
          <a:prstGeom prst="ellipse">
            <a:avLst/>
          </a:prstGeom>
          <a:solidFill>
            <a:srgbClr val="D9A441"/>
          </a:solidFill>
          <a:ln/>
          <a:effectLst>
            <a:outerShdw sx="100000" sy="100000" kx="0" ky="0" algn="bl" rotWithShape="0" blurRad="76200" dist="25400" dir="5400000">
              <a:srgbClr val="1B2A4A">
                <a:alpha val="25000"/>
              </a:srgbClr>
            </a:outerShdw>
          </a:effectLst>
        </p:spPr>
      </p:sp>
      <p:pic>
        <p:nvPicPr>
          <p:cNvPr id="16" name="Image 4" descr="rocket icon">    </p:cNvPr>
          <p:cNvPicPr>
            <a:picLocks noChangeAspect="1"/>
          </p:cNvPicPr>
          <p:nvPr/>
        </p:nvPicPr>
        <p:blipFill>
          <a:blip r:embed="rId5"/>
          <a:stretch>
            <a:fillRect/>
          </a:stretch>
        </p:blipFill>
        <p:spPr>
          <a:xfrm>
            <a:off x="10324490" y="1411834"/>
            <a:ext cx="559613" cy="559613"/>
          </a:xfrm>
          <a:prstGeom prst="rect">
            <a:avLst/>
          </a:prstGeom>
        </p:spPr>
      </p:pic>
      <p:sp>
        <p:nvSpPr>
          <p:cNvPr id="17" name="Text 10"/>
          <p:cNvSpPr txBox="1"/>
          <p:nvPr/>
        </p:nvSpPr>
        <p:spPr>
          <a:xfrm>
            <a:off x="9568282" y="2148840"/>
            <a:ext cx="2072030" cy="365760"/>
          </a:xfrm>
          <a:prstGeom prst="rect">
            <a:avLst/>
          </a:prstGeom>
          <a:noFill/>
          <a:ln/>
        </p:spPr>
        <p:txBody>
          <a:bodyPr wrap="square" lIns="0" tIns="0" rIns="0" bIns="0" rtlCol="0" anchor="ctr"/>
          <a:lstStyle/>
          <a:p>
            <a:pPr algn="ctr" indent="0" marL="0">
              <a:buNone/>
            </a:pPr>
            <a:r>
              <a:rPr lang="en-US" sz="1200" b="1" dirty="0">
                <a:solidFill>
                  <a:srgbClr val="E9EEF6"/>
                </a:solidFill>
                <a:latin typeface="Calibri" pitchFamily="34" charset="0"/>
                <a:ea typeface="Calibri" pitchFamily="34" charset="-122"/>
                <a:cs typeface="Calibri" pitchFamily="34" charset="-120"/>
              </a:rPr>
              <a:t>Cloud</a:t>
            </a:r>
            <a:endParaRPr lang="en-US" sz="1200" dirty="0"/>
          </a:p>
        </p:txBody>
      </p:sp>
      <p:sp>
        <p:nvSpPr>
          <p:cNvPr id="18" name="Text 11"/>
          <p:cNvSpPr txBox="1"/>
          <p:nvPr/>
        </p:nvSpPr>
        <p:spPr>
          <a:xfrm>
            <a:off x="1280160" y="3383280"/>
            <a:ext cx="9628632" cy="1188720"/>
          </a:xfrm>
          <a:prstGeom prst="rect">
            <a:avLst/>
          </a:prstGeom>
          <a:noFill/>
          <a:ln/>
        </p:spPr>
        <p:txBody>
          <a:bodyPr wrap="square" lIns="0" tIns="0" rIns="0" bIns="0" rtlCol="0" anchor="ctr"/>
          <a:lstStyle/>
          <a:p>
            <a:pPr rtl="1" algn="ctr" indent="0" marL="0">
              <a:buNone/>
            </a:pPr>
            <a:r>
              <a:rPr lang="en-US" sz="2200" b="1" dirty="0">
                <a:solidFill>
                  <a:srgbClr val="FFFFFF"/>
                </a:solidFill>
                <a:latin typeface="Calibri" pitchFamily="34" charset="0"/>
                <a:ea typeface="Calibri" pitchFamily="34" charset="-122"/>
                <a:cs typeface="Calibri" pitchFamily="34" charset="-120"/>
              </a:rPr>
              <a:t>CourseMind הופך חומרי קורס ממסמכים פסיביים לעוזר לימודי חכם, ממוקד ומבוסס מקורות.</a:t>
            </a:r>
            <a:endParaRPr lang="en-US" sz="2200" dirty="0"/>
          </a:p>
        </p:txBody>
      </p:sp>
      <p:sp>
        <p:nvSpPr>
          <p:cNvPr id="19" name="Text 12"/>
          <p:cNvSpPr txBox="1"/>
          <p:nvPr/>
        </p:nvSpPr>
        <p:spPr>
          <a:xfrm>
            <a:off x="0" y="5486400"/>
            <a:ext cx="12188952" cy="731520"/>
          </a:xfrm>
          <a:prstGeom prst="rect">
            <a:avLst/>
          </a:prstGeom>
          <a:noFill/>
          <a:ln/>
        </p:spPr>
        <p:txBody>
          <a:bodyPr wrap="square" lIns="0" tIns="0" rIns="0" bIns="0" rtlCol="0" anchor="ctr"/>
          <a:lstStyle/>
          <a:p>
            <a:pPr algn="ctr" indent="0" marL="0">
              <a:buNone/>
            </a:pPr>
            <a:r>
              <a:rPr lang="en-US" sz="3000" b="1" dirty="0">
                <a:solidFill>
                  <a:srgbClr val="D9A441"/>
                </a:solidFill>
                <a:latin typeface="Calibri" pitchFamily="34" charset="0"/>
                <a:ea typeface="Calibri" pitchFamily="34" charset="-122"/>
                <a:cs typeface="Calibri" pitchFamily="34" charset="-120"/>
              </a:rPr>
              <a:t>תודה  ·  Thank You</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CourseMind — AI Study Assistant</dc:title>
  <dc:subject>PptxGenJS Presentation</dc:subject>
  <dc:creator>CourseMind</dc:creator>
  <cp:lastModifiedBy>CourseMind</cp:lastModifiedBy>
  <cp:revision>1</cp:revision>
  <dcterms:created xsi:type="dcterms:W3CDTF">2026-09-07T09:51:54Z</dcterms:created>
  <dcterms:modified xsi:type="dcterms:W3CDTF">2026-09-07T09:51:54Z</dcterms:modified>
</cp:coreProperties>
</file>