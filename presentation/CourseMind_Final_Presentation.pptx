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"שלום, אני מציג את CourseMind — עוזר לימודי חכם שמבוסס על חומרי הקורס האישיים שלכם. הרעיון: לוקחים PDF ארוך של הקורס, והופכים אותו למערכת שאפשר לשאול אותה שאלות, לקבל תשובות מבוססות-מקור, ולקבל סיכום מלא של החומר."
על מה מצביע: הכותרת והמשפט המרכזי.
מה להדגיש: "זה לא צ'אטבוט כללי — יש כאן CrewAI Agent אמיתי עם Tool שמפעיל RAG, ובדקנו את זה עם 13 מקרי Evals."
משפט מעבר: "בואו נתחיל מהבעיה שהובילה אותנו לבנות את זה."
זמן משוער: 35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"כשסטודנט מכין מבחן, הבעיה לא חוסר במידע — יש יותר מדי. PDF ארוכים, חומר מפוזר על פני כמה קבצים, וסיכום ידני לוקח שעות."
על מה מצביע: ארבעת הכרטיסים, אחד אחרי השני.
מה להדגיש: "וכשפונים לכלי AI כללי — הוא עלול לענות מידע כללי שלא קשור בכלל לחומר הקורס הספציפי שלך."
משפט מעבר: "בשביל זה בנינו את CourseMind."
זמן משוער: 35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"CourseMind בנוי מארבע יכולות ליבה: שאלות על החומר דרך RAG Retrieval, תשובה מבוססת-חומר, מקור אמיתי לכל תשובה — קובץ ועמוד — וסיכום מלא של כל המסמך דרך Map/Reduce."
על מה מצביע: ארבעת הכרטיסים הממוספרים.
מה להדגיש: "השורה התחתונה: זה לא שליחת שאלה ל-OpenAI. יש Agent עם Tool אמיתי שמחפש ראיות."
משפט מעבר: "בואו נראה איך זה נראה בפועל."
זמן משוער: 35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"מבחינה טכנית, זה הזרימה: PDF עובר Extraction, מתפצל ל-Chunks, כל Chunk מקבל Embedding מ-OpenAI, והכל נשמר ב-ChromaDB. כשסטודנט שואל שאלה, ה-CrewAI Agent מפעיל את ה-RAG Tool, שולף את החלקים הרלוונטיים, ומחזיר תשובה מבוססת מקור."
על מה מצביע: שבעת השלבים, מימין לשמאל.
מה להדגיש: "על מסמך הייחוס שלנו: 21 עמודים הפכו ל-27 Chunks. וזה קורה בפועל בכל העלאת PDF."
משפט מעבר: "עכשיו — למה זה בכלל AI Agent, ולא סתם קריאה ל-API?"
זמן משוער: 40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"מה שמייחד את CourseMind זה לא רק שהוא עונה — אלא איך הוא מתנהג כשאין לו תשובה. אם שואלים אותו משהו שלא קשור לחומר — למשל מתכון לעוגה — הוא אומר במפורש שהמידע לא נמצא, ולא ממציא תשובה."
על מה מצביע: ארבעת כרטיסי הבידול, ואז דוגמת השאלה-תשובה.
מה להדגיש: "זה נקרא Grounding, ולצידו יש Source Tracking אמיתי — קובץ ועמוד — ו-Document Isolation שמוודא שמסמך אחד לא ידלוף לתשובה של מסמך אחר."
משפט מעבר: "וזה לא רק טענה — בדקנו את זה."
זמן משוער: 40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"לא הסתפקנו בהרגשה ש'זה עובד' — בנינו 13 מקרי Evals אמיתיים, שרצים מול ה-backend בפועל, ובדקנו את התוצאות מול ground truth שקבענו מראש מתוך המסמך."
על מה מצביע: המספר הגדול 13/13, ואז ארבעת המדדים.
מה להדגיש: "הבדיקות מכסות אחזור עובדתי, מעקב מקורות, התנהגות כשאין ראיה, בידוד בין מסמכים, עברית ואנגלית, וכיסוי הסיכום המלא. חשוב: זה 100% על סט הבדיקות שהגדרנו — לא טענה שהמערכת אף פעם לא טועה."
משפט מעבר: "בואו נדבר על מי זה בשביל, ואיך זה יכול להפוך לעסק."
זמן משוער: 40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"הקהל המרכזי הוא סטודנטים באוניברסיטאות ובמכללות, בעיקר בתקופת מבחנים, שמקבלים המון חומר — מצגות, סיכומים, PDF."
על מה מצביע: שורת ה-B2C/B2B, ואז שלושת כרטיסי התמחור.
מה להדגיש: "יש כאן שני סוגי לקוחות אפשריים: סטודנט בודד, או מוסד אקדמי. התמחור שאתם רואים הוא מודל מוצע — לא מאומת מול לקוחות משלמים אמיתיים."
משפט מעבר: "בואו נדבר על ההיגיון הכלכלי מאחורי זה."
זמן משוער: 40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"בשונה מהמדדים הטכניים שראיתם קודם — פה חשוב לי להיות מדויק: אין לנו עדיין נתוני כלכלת-יחידה שנמדדו בפיילוט אמיתי."
על מה מצביע: תג האזהרה הכתום, ואז נוסחת הרווח מימין לשמאל.
מה להדגיש: "ההיגיון: הכנסה מהמנוי, פחות עלות AI/API, פחות עלות תשתית שהיא ממילא נמוכה כי מבוססת קוד פתוח — משאיר שולי תרומה. זו השערת עבודה, לא מספר מדוד."
משפט מעבר: "איך זה משתווה למה שכבר קיים בשוק?"
זמן משוער: 40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"איפה CourseMind נמצא מול מה שכבר קיים? מול לא לעשות כלום, מול ChatGPT כללי, ומול כלי Chat-with-PDF."
על מה מצביע: ארבעת כרטיסי האלטרנטיבות.
מה להדגיש: "הבידול שלנו הוא הצירוף: CrewAI Agent, RAG, Grounding, Source Tracking, סיכום מלא, ו-Evals — יחד, סביב חומר הקורס האישי של הסטודנט. אנחנו לא טוענים שכלים אחרים תמיד טועים."
משפט מעבר: "אז איך בפועל מביאים את המשתמשים הראשונים?"
זמן משוער: 35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"התוכנית שלנו להשקה: מתחילים בפיילוט קטן — קבוצת סטודנטים אחת, קורס אחד, שימוש חינם בזמן הכנה למבחן."
על מה מצביע: חמשת השלבים מימין לשמאל, ואז ערוצי הגיוס.
מה להדגיש: "מודדים בפועל — כמה שאלות נשאלו, כמה תשובות היו מבוססות, כמה פעם המערכת אמרה 'לא נמצא', ומה הפידבק. רק אז מציעים מעבר ל-Premium."
משפט מעבר: "לסיכום."
זמן משוער: 35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אני אומר: "לסיכום — CourseMind הופך חומרי קורס פסיביים לעוזר לימודי חכם: 21 עמודים הפכו ל-27 Chunks במסמך הייחוס שלנו, ועברנו 13 מתוך 13 מקרי Evals, כולל 2/2 על התנהגות Grounding כשאין מקור."
על מה מצביע: ארבעת כרטיסי המספרים.
מה להדגיש: "השלב הבא שלנו הוא פיילוט אמיתי עם סטודנטים בתקופת מבחנים — שם נאסוף את הנתונים שיאמתו את מודל הכלכלה."
משפט מעבר: (סוף) "תודה רבה, אשמח לענות על שאלות."
זמן משוער: 30 שניות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4754880" cy="4754880"/>
          </a:xfrm>
          <a:prstGeom prst="ellipse">
            <a:avLst/>
          </a:prstGeom>
          <a:solidFill>
            <a:srgbClr val="0F3E3A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5349240"/>
            <a:ext cx="3291840" cy="3291840"/>
          </a:xfrm>
          <a:prstGeom prst="ellipse">
            <a:avLst/>
          </a:prstGeom>
          <a:solidFill>
            <a:srgbClr val="0F3E3A"/>
          </a:solidFill>
          <a:ln/>
        </p:spPr>
      </p:sp>
      <p:sp>
        <p:nvSpPr>
          <p:cNvPr id="4" name="Shape 2"/>
          <p:cNvSpPr/>
          <p:nvPr/>
        </p:nvSpPr>
        <p:spPr>
          <a:xfrm>
            <a:off x="5614416" y="662940"/>
            <a:ext cx="960120" cy="960120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5" name="Image 0" descr="rob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8833" y="797357"/>
            <a:ext cx="691286" cy="6912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16916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0" y="265176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עוזר לימודי חכם לחומרי הקורס שלך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246120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 הופך חומרי קורס ארוכים למערכת שאפשר לשאול, להבין ולסכם — עם תשובות מבוססות מקורות.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2093976" cy="502920"/>
          </a:xfrm>
          <a:prstGeom prst="roundRect">
            <a:avLst>
              <a:gd name="adj" fmla="val 50000"/>
            </a:avLst>
          </a:prstGeom>
          <a:solidFill>
            <a:srgbClr val="0F3E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47091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Agent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52344" y="4709160"/>
            <a:ext cx="2093976" cy="502920"/>
          </a:xfrm>
          <a:prstGeom prst="roundRect">
            <a:avLst>
              <a:gd name="adj" fmla="val 50000"/>
            </a:avLst>
          </a:prstGeom>
          <a:solidFill>
            <a:srgbClr val="0F3E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52344" y="47091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47488" y="4709160"/>
            <a:ext cx="2093976" cy="502920"/>
          </a:xfrm>
          <a:prstGeom prst="roundRect">
            <a:avLst>
              <a:gd name="adj" fmla="val 50000"/>
            </a:avLst>
          </a:prstGeom>
          <a:solidFill>
            <a:srgbClr val="0F3E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47091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 Evals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42632" y="4709160"/>
            <a:ext cx="2093976" cy="502920"/>
          </a:xfrm>
          <a:prstGeom prst="roundRect">
            <a:avLst>
              <a:gd name="adj" fmla="val 50000"/>
            </a:avLst>
          </a:prstGeom>
          <a:solidFill>
            <a:srgbClr val="0F3E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42632" y="47091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37776" y="4709160"/>
            <a:ext cx="2093976" cy="502920"/>
          </a:xfrm>
          <a:prstGeom prst="roundRect">
            <a:avLst>
              <a:gd name="adj" fmla="val 50000"/>
            </a:avLst>
          </a:prstGeom>
          <a:solidFill>
            <a:srgbClr val="0F3E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37776" y="470916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Summary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סטודנטים טובעים בחומר — והזמן נשרף על חיפוש במקום על למידה.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9611" y="1746504"/>
            <a:ext cx="621792" cy="62179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6" name="Image 0" descr="fi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662" y="1833555"/>
            <a:ext cx="447690" cy="4476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496312"/>
            <a:ext cx="24803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ארוכים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2825496"/>
            <a:ext cx="2480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44952"/>
            <a:ext cx="2443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קשה למצוא תשובה ספציפית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9846" y="150876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2257" y="1746504"/>
            <a:ext cx="621792" cy="62179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12" name="Image 1" descr="lay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308" y="1833555"/>
            <a:ext cx="447690" cy="4476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12998" y="2496312"/>
            <a:ext cx="24803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חומר מפוזר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412998" y="2825496"/>
            <a:ext cx="2480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31286" y="3044952"/>
            <a:ext cx="2443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רב בחיפוש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22492" y="150876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4903" y="1746504"/>
            <a:ext cx="621792" cy="62179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18" name="Image 2" descr="clipbo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54" y="1833555"/>
            <a:ext cx="447690" cy="4476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95644" y="2496312"/>
            <a:ext cx="24803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סיכומים ידניים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295644" y="2825496"/>
            <a:ext cx="2480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313932" y="3044952"/>
            <a:ext cx="2443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שעות של עבודה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05138" y="150876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07549" y="1746504"/>
            <a:ext cx="621792" cy="62179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24" name="Image 3" descr="ba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600" y="1833555"/>
            <a:ext cx="447690" cy="4476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78290" y="2496312"/>
            <a:ext cx="24803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כללי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9178290" y="2825496"/>
            <a:ext cx="2480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96578" y="3044952"/>
            <a:ext cx="2443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עלול לענות בלי קשר לחומר הקורס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5440680"/>
            <a:ext cx="11274552" cy="731520"/>
          </a:xfrm>
          <a:prstGeom prst="roundRect">
            <a:avLst>
              <a:gd name="adj" fmla="val 11250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85800" y="544068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 אינה מחסור במידע — אלא להפוך את חומר הקורס למידע שאפשר למצוא, להבין וללמוד ממנו במהירות.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שעובד עם חומר הקורס — לא צ'אטבוט כללי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2661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7043" y="1682496"/>
            <a:ext cx="566928" cy="566928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487043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3774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על חומר הקורס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0632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Question → RAG Retrieval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9846" y="1463040"/>
            <a:ext cx="262661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9689" y="1682496"/>
            <a:ext cx="566928" cy="566928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69689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12998" y="23774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תשובה מבוססת חומר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12998" y="30632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2492" y="1463040"/>
            <a:ext cx="262661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52335" y="1682496"/>
            <a:ext cx="566928" cy="566928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52335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5644" y="23774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אמיתי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95644" y="30632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Tracking → PDF + Page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05138" y="1463040"/>
            <a:ext cx="262661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34981" y="1682496"/>
            <a:ext cx="566928" cy="566928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134981" y="1682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78290" y="23774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מלא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78290" y="3063240"/>
            <a:ext cx="24803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Chunks → Map/Reduce → Summary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274552" cy="731520"/>
          </a:xfrm>
          <a:prstGeom prst="roundRect">
            <a:avLst>
              <a:gd name="adj" fmla="val 11250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" y="544068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 לא פשוט שולח שאלה ל-OpenAI. הוא מפעיל Agent עם Tool אמיתי שמחפש ראיות בחומר הקורס.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עובד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מ-PDF של הקורס לתשובה מבוססת מקור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230830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70979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770979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85694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102814" y="234177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9" name="Shape 7"/>
          <p:cNvSpPr/>
          <p:nvPr/>
        </p:nvSpPr>
        <p:spPr>
          <a:xfrm>
            <a:off x="8601891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2041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2041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56755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73875" y="234177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14" name="Shape 12"/>
          <p:cNvSpPr/>
          <p:nvPr/>
        </p:nvSpPr>
        <p:spPr>
          <a:xfrm>
            <a:off x="6972953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13102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13102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27817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44937" y="234177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4015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84164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884164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98879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5999" y="234177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24" name="Shape 22"/>
          <p:cNvSpPr/>
          <p:nvPr/>
        </p:nvSpPr>
        <p:spPr>
          <a:xfrm>
            <a:off x="3715077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5226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255226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69941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87061" y="234177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29" name="Shape 27"/>
          <p:cNvSpPr/>
          <p:nvPr/>
        </p:nvSpPr>
        <p:spPr>
          <a:xfrm>
            <a:off x="2086138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26287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626287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141002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Agent + RAG Tool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58122" y="234177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1508760"/>
            <a:ext cx="1500922" cy="1691640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7349" y="1655064"/>
            <a:ext cx="420624" cy="42062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97349" y="1655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" y="2148840"/>
            <a:ext cx="1391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+ Sources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 ·  PageData  ·  ChunkData  ·  OpenAI Embeddings  ·  ChromaDB  ·  CrewAI Agent  ·  CourseMaterialSearchTool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19756" y="40233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619756" y="4160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000" dirty="0"/>
          </a:p>
        </p:txBody>
      </p:sp>
      <p:sp>
        <p:nvSpPr>
          <p:cNvPr id="41" name="Text 39"/>
          <p:cNvSpPr txBox="1"/>
          <p:nvPr/>
        </p:nvSpPr>
        <p:spPr>
          <a:xfrm>
            <a:off x="2619756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עמודים במסמך הייחוס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77356" y="40233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277356" y="4160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000" dirty="0"/>
          </a:p>
        </p:txBody>
      </p:sp>
      <p:sp>
        <p:nvSpPr>
          <p:cNvPr id="44" name="Text 42"/>
          <p:cNvSpPr txBox="1"/>
          <p:nvPr/>
        </p:nvSpPr>
        <p:spPr>
          <a:xfrm>
            <a:off x="6277356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3846"/>
            </a:avLst>
          </a:prstGeom>
          <a:solidFill>
            <a:srgbClr val="E2F3EA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40080" y="562356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ה-Agent מחליט בעצמו מתי להפעיל את CourseMaterialSearchTool — לא כל תשובה עוברת דרך שליפה קבועה מראש.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הבידול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"AI שיודע הכול" — AI שיודע מתי אין לו מקור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66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4475" y="1545336"/>
            <a:ext cx="512064" cy="51206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6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164" y="16170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130552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04872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7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מקור? CourseMind אומר: "המידע לא נמצא בחומר הלימוד שהועלה."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3339846" y="1417320"/>
            <a:ext cx="26266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7121" y="1545336"/>
            <a:ext cx="512064" cy="51206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11" name="Image 1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10" y="161702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12998" y="2130552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Tracking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31286" y="2404872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7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תשובה יכולה להציג PDF + Page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6222492" y="1417320"/>
            <a:ext cx="26266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79767" y="1545336"/>
            <a:ext cx="512064" cy="51206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16" name="Image 2" descr="ro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456" y="1617025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95644" y="2130552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Agent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313932" y="2404872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7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Goal · Backstory · Tool · Task · Crew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9105138" y="1417320"/>
            <a:ext cx="262661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62413" y="1545336"/>
            <a:ext cx="512064" cy="512064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76200" dist="25400" dir="5400000">
              <a:srgbClr val="0A2E2B">
                <a:alpha val="22000"/>
              </a:srgbClr>
            </a:outerShdw>
          </a:effectLst>
        </p:spPr>
      </p:sp>
      <p:pic>
        <p:nvPicPr>
          <p:cNvPr id="21" name="Image 3" descr="lay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102" y="161702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78290" y="2130552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Isolation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196578" y="2404872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7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לא שולף מידע מ-Document B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457200" y="324612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E2F3EA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3152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שאלה מתוך החומר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" y="36393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"מה המתכון הכי טוב לעוגת שוקולד?"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277356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277356" y="36393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"המידע לא נמצא בחומר הלימוד שהועלה."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57200" y="4526280"/>
            <a:ext cx="11274552" cy="731520"/>
          </a:xfrm>
          <a:prstGeom prst="roundRect">
            <a:avLst>
              <a:gd name="adj" fmla="val 11250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685800" y="452628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הבידול הוא לא רק מה שהמודל כותב — אלא איך המערכת מחייבת אותו לעבוד עם Evidence.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ההוכחה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"נראה שזה עובד" — בדקנו את זה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0" y="1325880"/>
            <a:ext cx="1218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0" y="2286000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Cases Passed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2816352"/>
            <a:ext cx="26266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10128"/>
            <a:ext cx="2626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Hit@K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9846" y="2743200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39846" y="2816352"/>
            <a:ext cx="26266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39846" y="3310128"/>
            <a:ext cx="2626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Refusal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22492" y="2743200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22492" y="2816352"/>
            <a:ext cx="26266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22492" y="3310128"/>
            <a:ext cx="2626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Isolation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05138" y="2743200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05138" y="2816352"/>
            <a:ext cx="26266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05138" y="3310128"/>
            <a:ext cx="2626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Late-page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977640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אחזור עובדתי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1558" y="3977640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21558" y="3977640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 התשובה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5916" y="3977640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85916" y="3977640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מעקב מקורות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50274" y="3977640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50274" y="3977640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התנהגות ללא-ראיה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89704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4489704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בידוד מסמכים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21558" y="4489704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21558" y="4489704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 / אנגלית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85916" y="4489704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85916" y="4489704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כיסוי סיכום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50274" y="4489704"/>
            <a:ext cx="2681478" cy="38404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50274" y="4489704"/>
            <a:ext cx="2681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בטיחות בכשל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074920"/>
            <a:ext cx="11274552" cy="685800"/>
          </a:xfrm>
          <a:prstGeom prst="roundRect">
            <a:avLst>
              <a:gd name="adj" fmla="val 12000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על סט הבדיקות הייחוסי שהגדרנו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היעד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סטודנטים באוניברסיטאות ובמכללות · בייחוד בתקופת מבחנים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המשתמש בפועל: סטודנט שמקבל מצגות, סיכומי שיעור, קבצי PDF וחומרי קורס אחרים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092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64208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93392"/>
            <a:ext cx="5143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סטודנט בודד שמכין מבחן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2492" y="1554480"/>
            <a:ext cx="55092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16916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5372" y="1691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65492" y="1664208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/ College / Academic Support Center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5372" y="1993392"/>
            <a:ext cx="5143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מוסד אקדמי או מרכז תמיכה בלמידה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514600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תמחור מוצע  ·  Proposed Pricing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58749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" y="3127248"/>
            <a:ext cx="3587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74720"/>
            <a:ext cx="3587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₪0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16052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עיבוד PDF מוגבל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57200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מספר שאלות מוגבל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98348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סיכום בסיסי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00728" y="2926080"/>
            <a:ext cx="3587496" cy="3063240"/>
          </a:xfrm>
          <a:prstGeom prst="roundRect">
            <a:avLst>
              <a:gd name="adj" fmla="val 2687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300728" y="3127248"/>
            <a:ext cx="3587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00728" y="3474720"/>
            <a:ext cx="3587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₪29–39 / חודש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4556760" y="416052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יותר מסמכים ושאלות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56760" y="457200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סיכומים מלאים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56760" y="498348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כלי לימוד עתידיים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44256" y="2926080"/>
            <a:ext cx="358749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144256" y="3127248"/>
            <a:ext cx="3587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144256" y="3474720"/>
            <a:ext cx="3587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8400288" y="416052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לפי מספר סטודנטים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400288" y="457200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היקף שימוש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400288" y="4983480"/>
            <a:ext cx="307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דרישות מוסדיות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התמחור מוצע בלבד — לא אומת מול לקוחות משלמים.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כלכלת יחידה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להוכחה בפיילוט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457200"/>
          </a:xfrm>
          <a:prstGeom prst="roundRect">
            <a:avLst>
              <a:gd name="adj" fmla="val 18000"/>
            </a:avLst>
          </a:prstGeom>
          <a:solidFill>
            <a:srgbClr val="FBEAE0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C7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טרם אומת בפיילוט אמיתי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201150" y="1874520"/>
            <a:ext cx="253060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74302" y="2020824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הכנסה חודשית למשתמש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274302" y="260604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— ₪29–39 (מוצע)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8817102" y="1874520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86500" y="1874520"/>
            <a:ext cx="253060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9652" y="2020824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AI/API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59652" y="260604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+ LLM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5902452" y="1874520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71850" y="1874520"/>
            <a:ext cx="253060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45002" y="2020824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תשתית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45002" y="260604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Python · Streamlit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2987802" y="1874520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2530602" cy="1234440"/>
          </a:xfrm>
          <a:prstGeom prst="roundRect">
            <a:avLst>
              <a:gd name="adj" fmla="val 6667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0352" y="2020824"/>
            <a:ext cx="238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שולי תרומה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260604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55092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474720"/>
            <a:ext cx="5143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משתנות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94760"/>
            <a:ext cx="5052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שימוש ב-OpenAI API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41648"/>
            <a:ext cx="5052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Embeddings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288536"/>
            <a:ext cx="5052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קריאות LLM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22492" y="3337560"/>
            <a:ext cx="55092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05372" y="3474720"/>
            <a:ext cx="5143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תשתית זולה / קוד פתוח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51092" y="3794760"/>
            <a:ext cx="5052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ChromaDB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51092" y="4041648"/>
            <a:ext cx="5052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51092" y="4288536"/>
            <a:ext cx="5052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Streamlit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E2F3EA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1520" y="4709160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השערת עבודה: אם העלות החודשית של API לכל סטודנט פעיל נשארת נמוכה משמעותית ממחיר המנוי, CourseMind יכול לתמוך במודל מנוי חוזר.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שוק ומתחרים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איפה CourseMind נמצא מול האלטרנטיבות הקיימות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4475" y="1618488"/>
            <a:ext cx="512064" cy="512064"/>
          </a:xfrm>
          <a:prstGeom prst="ellipse">
            <a:avLst/>
          </a:prstGeom>
          <a:solidFill>
            <a:srgbClr val="6F8695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14475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240280"/>
            <a:ext cx="2480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"לא לעשות כלום"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24437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הסטודנט מחפש ידנית בתוך ה-PDF ומכין סיכומים בעצמו.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9846" y="141732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7121" y="1618488"/>
            <a:ext cx="512064" cy="512064"/>
          </a:xfrm>
          <a:prstGeom prst="ellipse">
            <a:avLst/>
          </a:prstGeom>
          <a:solidFill>
            <a:srgbClr val="6F8695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97121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12998" y="2240280"/>
            <a:ext cx="2480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General AI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31286" y="2788920"/>
            <a:ext cx="24437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עוזר כללי וחזק, אך לא בנוי סביב זרימת עבודה מובנית של קורס.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22492" y="141732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79767" y="1618488"/>
            <a:ext cx="512064" cy="512064"/>
          </a:xfrm>
          <a:prstGeom prst="ellipse">
            <a:avLst/>
          </a:prstGeom>
          <a:solidFill>
            <a:srgbClr val="6F8695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79767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95644" y="2240280"/>
            <a:ext cx="2480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Chat-with-PDF Tools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13932" y="2788920"/>
            <a:ext cx="24437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ותשובות על מסמך, אך CourseMind מדגיש Agent + Grounding + Sources + Evals.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05138" y="1417320"/>
            <a:ext cx="262661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2413" y="1618488"/>
            <a:ext cx="512064" cy="512064"/>
          </a:xfrm>
          <a:prstGeom prst="ellipse">
            <a:avLst/>
          </a:prstGeom>
          <a:solidFill>
            <a:srgbClr val="6F8695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162413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78290" y="2240280"/>
            <a:ext cx="2480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תהליך למידה ידני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96578" y="2788920"/>
            <a:ext cx="24437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→ העתקה → סיכום → חזרה על התהליך שוב ושוב.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" y="40233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Agent  +  RAG  +  Grounding  +  Source Tracking  +  Full Document Summary  +  Evals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F8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טוענים שהאלטרנטיבות "תמיד הוזות" — הבידול הוא בזרימת עבודה מובנית סביב חומר הקורס האישי.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נביא את המשתמשים הראשונים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579254" y="1463040"/>
            <a:ext cx="21524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36047" y="1609344"/>
            <a:ext cx="438912" cy="43891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436047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34118" y="2121408"/>
            <a:ext cx="2042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פיילוט סטודנטים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34118" y="2679192"/>
            <a:ext cx="2042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קבוצה קטנה של סטודנטים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451238" y="225033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10" name="Shape 8"/>
          <p:cNvSpPr/>
          <p:nvPr/>
        </p:nvSpPr>
        <p:spPr>
          <a:xfrm>
            <a:off x="7298741" y="1463040"/>
            <a:ext cx="21524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55534" y="1609344"/>
            <a:ext cx="438912" cy="43891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55534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53605" y="2121408"/>
            <a:ext cx="2042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קורס אחד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53605" y="2679192"/>
            <a:ext cx="2042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 על קורס אמיתי אחד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170725" y="225033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8227" y="1463040"/>
            <a:ext cx="21524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5020" y="1609344"/>
            <a:ext cx="438912" cy="43891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75020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73091" y="2121408"/>
            <a:ext cx="2042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חינם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73091" y="2679192"/>
            <a:ext cx="2042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פיילוט חופשי ומוגבל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890211" y="225033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37714" y="1463040"/>
            <a:ext cx="21524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94506" y="1609344"/>
            <a:ext cx="438912" cy="43891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594506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92578" y="2121408"/>
            <a:ext cx="2042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מדידה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792578" y="2679192"/>
            <a:ext cx="2042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· תשובות · סיכומים · פידבק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2609698" y="2250338"/>
            <a:ext cx="128016" cy="25603"/>
          </a:xfrm>
          <a:prstGeom prst="rect">
            <a:avLst/>
          </a:prstGeom>
          <a:solidFill>
            <a:srgbClr val="6F8695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1463040"/>
            <a:ext cx="21524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13993" y="1609344"/>
            <a:ext cx="438912" cy="438912"/>
          </a:xfrm>
          <a:prstGeom prst="ellipse">
            <a:avLst/>
          </a:prstGeom>
          <a:solidFill>
            <a:srgbClr val="0D7D72"/>
          </a:solidFill>
          <a:ln/>
          <a:effectLst>
            <a:outerShdw sx="100000" sy="100000" kx="0" ky="0" algn="bl" rotWithShape="0" blurRad="63500" dist="25400" dir="5400000">
              <a:srgbClr val="0A2E2B">
                <a:alpha val="2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313993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" y="2121408"/>
            <a:ext cx="2042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המרה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2679192"/>
            <a:ext cx="2042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3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מעבר ל-Premium אחרי ערך מוכח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3375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0E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ערוצי גיוס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108606" cy="502920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65760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קבוצות וואטסאפ של סטודנטים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8686" y="3657600"/>
            <a:ext cx="2108606" cy="502920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748686" y="365760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קהילות קמפוס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40173" y="3657600"/>
            <a:ext cx="2108606" cy="502920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40173" y="365760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אגודות סטודנטים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31659" y="3657600"/>
            <a:ext cx="2108606" cy="502920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31659" y="365760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מרכזי תמיכה אקדמית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23146" y="3657600"/>
            <a:ext cx="2108606" cy="502920"/>
          </a:xfrm>
          <a:prstGeom prst="roundRect">
            <a:avLst>
              <a:gd name="adj" fmla="val 50000"/>
            </a:avLst>
          </a:prstGeom>
          <a:solidFill>
            <a:srgbClr val="E2F3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23146" y="3657600"/>
            <a:ext cx="2108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0D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מרצים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52628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0D7D72"/>
          </a:solidFill>
          <a:ln/>
          <a:effectLst>
            <a:outerShdw sx="100000" sy="100000" kx="0" ky="0" algn="bl" rotWithShape="0" blurRad="101600" dist="25400" dir="5400000">
              <a:srgbClr val="0A2E2B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731520" y="4526280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מתחילים מאוניברסיטה שלמה. מתחילים בקורס אחד ובקבוצת סטודנטים אחת — מודדים ערך, ואז מתרחבים.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0F3E3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737360"/>
            <a:ext cx="3657600" cy="3657600"/>
          </a:xfrm>
          <a:prstGeom prst="ellipse">
            <a:avLst/>
          </a:prstGeom>
          <a:solidFill>
            <a:srgbClr val="0F3E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6400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הופכים חומרי קורס ממסמכים פסיביים לעוזר לימודי חכם, ממוקד ומבוסס מקורות.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26614" cy="1371600"/>
          </a:xfrm>
          <a:prstGeom prst="roundRect">
            <a:avLst>
              <a:gd name="adj" fmla="val 6000"/>
            </a:avLst>
          </a:prstGeom>
          <a:solidFill>
            <a:srgbClr val="0F3E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487168"/>
            <a:ext cx="26266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Reference PDF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9846" y="2331720"/>
            <a:ext cx="2626614" cy="1371600"/>
          </a:xfrm>
          <a:prstGeom prst="roundRect">
            <a:avLst>
              <a:gd name="adj" fmla="val 6000"/>
            </a:avLst>
          </a:prstGeom>
          <a:solidFill>
            <a:srgbClr val="0F3E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9846" y="2487168"/>
            <a:ext cx="26266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31286" y="3063240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22492" y="2331720"/>
            <a:ext cx="2626614" cy="1371600"/>
          </a:xfrm>
          <a:prstGeom prst="roundRect">
            <a:avLst>
              <a:gd name="adj" fmla="val 6000"/>
            </a:avLst>
          </a:prstGeom>
          <a:solidFill>
            <a:srgbClr val="0F3E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22492" y="2487168"/>
            <a:ext cx="26266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13932" y="3063240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05138" y="2331720"/>
            <a:ext cx="2626614" cy="1371600"/>
          </a:xfrm>
          <a:prstGeom prst="roundRect">
            <a:avLst>
              <a:gd name="adj" fmla="val 6000"/>
            </a:avLst>
          </a:prstGeom>
          <a:solidFill>
            <a:srgbClr val="0F3E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05138" y="2487168"/>
            <a:ext cx="26266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96578" y="3063240"/>
            <a:ext cx="24437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Refusal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0D7D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השלב הבא: פיילוט עם סטודנטים בתקופת מבחנים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  ·  שאלות?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CourseMind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F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CourseMind — AI Study Assistant</dc:title>
  <dc:subject>PptxGenJS Presentation</dc:subject>
  <dc:creator>CourseMind</dc:creator>
  <cp:lastModifiedBy>CourseMind</cp:lastModifiedBy>
  <cp:revision>1</cp:revision>
  <dcterms:created xsi:type="dcterms:W3CDTF">2026-09-07T11:18:30Z</dcterms:created>
  <dcterms:modified xsi:type="dcterms:W3CDTF">2026-09-07T11:18:30Z</dcterms:modified>
</cp:coreProperties>
</file>